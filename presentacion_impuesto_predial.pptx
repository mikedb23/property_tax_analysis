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735" autoAdjust="0"/>
    <p:restoredTop sz="94610"/>
  </p:normalViewPr>
  <p:slideViewPr>
    <p:cSldViewPr snapToGrid="0" snapToObjects="1">
      <p:cViewPr varScale="1">
        <p:scale>
          <a:sx n="58" d="100"/>
          <a:sy n="58" d="100"/>
        </p:scale>
        <p:origin x="39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400" b="0" i="0" u="none" strike="noStrike" kern="1200" baseline="0">
                <a:solidFill>
                  <a:srgbClr val="1E293B"/>
                </a:solidFill>
                <a:latin typeface="Cambria"/>
                <a:ea typeface="+mn-ea"/>
                <a:cs typeface="+mn-cs"/>
              </a:defRPr>
            </a:pPr>
            <a:r>
              <a:rPr lang="es-CO" sz="1400" b="0" i="0" u="none" strike="noStrike">
                <a:solidFill>
                  <a:srgbClr val="1E293B"/>
                </a:solidFill>
                <a:latin typeface="Cambria"/>
              </a:rPr>
              <a:t>Destinos más frecuentes</a:t>
            </a:r>
          </a:p>
        </c:rich>
      </c:tx>
      <c:overlay val="0"/>
      <c:spPr>
        <a:noFill/>
        <a:ln>
          <a:noFill/>
        </a:ln>
        <a:effectLst/>
      </c:spPr>
      <c:txPr>
        <a:bodyPr rot="0" spcFirstLastPara="1" vertOverflow="ellipsis" vert="horz" wrap="square" anchor="ctr" anchorCtr="1"/>
        <a:lstStyle/>
        <a:p>
          <a:pPr>
            <a:defRPr sz="1400" b="0" i="0" u="none" strike="noStrike" kern="1200" baseline="0">
              <a:solidFill>
                <a:srgbClr val="1E293B"/>
              </a:solidFill>
              <a:latin typeface="Cambria"/>
              <a:ea typeface="+mn-ea"/>
              <a:cs typeface="+mn-cs"/>
            </a:defRPr>
          </a:pPr>
          <a:endParaRPr lang="es-CO"/>
        </a:p>
      </c:txPr>
    </c:title>
    <c:autoTitleDeleted val="0"/>
    <c:plotArea>
      <c:layout/>
      <c:barChart>
        <c:barDir val="bar"/>
        <c:grouping val="clustered"/>
        <c:varyColors val="0"/>
        <c:ser>
          <c:idx val="0"/>
          <c:order val="0"/>
          <c:tx>
            <c:strRef>
              <c:f>Sheet1!$B$1</c:f>
              <c:strCache>
                <c:ptCount val="1"/>
                <c:pt idx="0">
                  <c:v>Registros</c:v>
                </c:pt>
              </c:strCache>
            </c:strRef>
          </c:tx>
          <c:spPr>
            <a:solidFill>
              <a:schemeClr val="accent6"/>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100" b="0" i="0" u="none" strike="noStrike" kern="1200" baseline="0">
                    <a:solidFill>
                      <a:srgbClr val="1E293B"/>
                    </a:solidFill>
                    <a:latin typeface="Calibri"/>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Residenciales
urb./rur.</c:v>
                </c:pt>
                <c:pt idx="1">
                  <c:v>Dotacional</c:v>
                </c:pt>
                <c:pt idx="2">
                  <c:v>Comercial</c:v>
                </c:pt>
              </c:strCache>
            </c:strRef>
          </c:cat>
          <c:val>
            <c:numRef>
              <c:f>Sheet1!$B$2:$B$4</c:f>
              <c:numCache>
                <c:formatCode>General</c:formatCode>
                <c:ptCount val="3"/>
                <c:pt idx="0">
                  <c:v>40877</c:v>
                </c:pt>
                <c:pt idx="1">
                  <c:v>24629</c:v>
                </c:pt>
                <c:pt idx="2">
                  <c:v>23660</c:v>
                </c:pt>
              </c:numCache>
            </c:numRef>
          </c:val>
          <c:extLst>
            <c:ext xmlns:c16="http://schemas.microsoft.com/office/drawing/2014/chart" uri="{C3380CC4-5D6E-409C-BE32-E72D297353CC}">
              <c16:uniqueId val="{00000000-9462-4F20-961F-5013C920669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1100" b="0" i="0" u="none" strike="noStrike" kern="1200" baseline="0">
                <a:solidFill>
                  <a:srgbClr val="5B7180"/>
                </a:solidFill>
                <a:latin typeface="Calibri"/>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s-ES"/>
              <a:t>Distribución de los 168.287 registros</a:t>
            </a:r>
          </a:p>
        </c:rich>
      </c:tx>
      <c:overlay val="0"/>
      <c:spPr>
        <a:noFill/>
        <a:ln>
          <a:noFill/>
        </a:ln>
        <a:effectLst/>
      </c:spPr>
    </c:title>
    <c:autoTitleDeleted val="0"/>
    <c:plotArea>
      <c:layout/>
      <c:doughnutChart>
        <c:varyColors val="1"/>
        <c:ser>
          <c:idx val="0"/>
          <c:order val="0"/>
          <c:tx>
            <c:strRef>
              <c:f>Sheet1!$B$1</c:f>
              <c:strCache>
                <c:ptCount val="1"/>
                <c:pt idx="0">
                  <c:v>Rentabilidad</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67E4-4A2E-B443-7B448E04AA15}"/>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67E4-4A2E-B443-7B448E04AA15}"/>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67E4-4A2E-B443-7B448E04AA15}"/>
              </c:ext>
            </c:extLst>
          </c:dPt>
          <c:cat>
            <c:strRef>
              <c:f>Sheet1!$A$2:$A$4</c:f>
              <c:strCache>
                <c:ptCount val="3"/>
                <c:pt idx="0">
                  <c:v>BAJA (72,4%)</c:v>
                </c:pt>
                <c:pt idx="1">
                  <c:v>MEDIA (17,0%)</c:v>
                </c:pt>
                <c:pt idx="2">
                  <c:v>ALTA (10,6%)</c:v>
                </c:pt>
              </c:strCache>
            </c:strRef>
          </c:cat>
          <c:val>
            <c:numRef>
              <c:f>Sheet1!$B$2:$B$4</c:f>
              <c:numCache>
                <c:formatCode>General</c:formatCode>
                <c:ptCount val="3"/>
                <c:pt idx="0">
                  <c:v>72.400000000000006</c:v>
                </c:pt>
                <c:pt idx="1">
                  <c:v>17</c:v>
                </c:pt>
                <c:pt idx="2">
                  <c:v>10.6</c:v>
                </c:pt>
              </c:numCache>
            </c:numRef>
          </c:val>
          <c:extLst>
            <c:ext xmlns:c16="http://schemas.microsoft.com/office/drawing/2014/chart" uri="{C3380CC4-5D6E-409C-BE32-E72D297353CC}">
              <c16:uniqueId val="{00000006-67E4-4A2E-B443-7B448E04AA15}"/>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span"/>
    <c:showDLblsOverMax val="1"/>
  </c:chart>
  <c:spPr>
    <a:noFill/>
    <a:ln>
      <a:noFill/>
    </a:ln>
    <a:effectLst/>
  </c:spPr>
  <c:txPr>
    <a:bodyPr/>
    <a:lstStyle/>
    <a:p>
      <a:pPr>
        <a:defRPr/>
      </a:pPr>
      <a:endParaRPr lang="es-CO"/>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300" b="0" i="0" u="none" strike="noStrike" kern="1200" baseline="0">
                <a:solidFill>
                  <a:srgbClr val="1E293B"/>
                </a:solidFill>
                <a:latin typeface="Cambria"/>
                <a:ea typeface="+mn-ea"/>
                <a:cs typeface="+mn-cs"/>
              </a:defRPr>
            </a:pPr>
            <a:r>
              <a:rPr lang="es-ES" sz="1800" b="0" i="0" u="none" strike="noStrike" dirty="0">
                <a:solidFill>
                  <a:srgbClr val="1E293B"/>
                </a:solidFill>
                <a:latin typeface="Cambria"/>
              </a:rPr>
              <a:t>Recaudo total aprox. (miles de millones COP)</a:t>
            </a:r>
          </a:p>
        </c:rich>
      </c:tx>
      <c:overlay val="0"/>
      <c:spPr>
        <a:noFill/>
        <a:ln>
          <a:noFill/>
        </a:ln>
        <a:effectLst/>
      </c:spPr>
      <c:txPr>
        <a:bodyPr rot="0" spcFirstLastPara="1" vertOverflow="ellipsis" vert="horz" wrap="square" anchor="ctr" anchorCtr="1"/>
        <a:lstStyle/>
        <a:p>
          <a:pPr>
            <a:defRPr sz="1300" b="0" i="0" u="none" strike="noStrike" kern="1200" baseline="0">
              <a:solidFill>
                <a:srgbClr val="1E293B"/>
              </a:solidFill>
              <a:latin typeface="Cambria"/>
              <a:ea typeface="+mn-ea"/>
              <a:cs typeface="+mn-cs"/>
            </a:defRPr>
          </a:pPr>
          <a:endParaRPr lang="es-CO"/>
        </a:p>
      </c:txPr>
    </c:title>
    <c:autoTitleDeleted val="0"/>
    <c:plotArea>
      <c:layout/>
      <c:barChart>
        <c:barDir val="col"/>
        <c:grouping val="clustered"/>
        <c:varyColors val="0"/>
        <c:ser>
          <c:idx val="0"/>
          <c:order val="0"/>
          <c:tx>
            <c:strRef>
              <c:f>Sheet1!$B$1</c:f>
              <c:strCache>
                <c:ptCount val="1"/>
                <c:pt idx="0">
                  <c:v>Recaudo total aprox.</c:v>
                </c:pt>
              </c:strCache>
            </c:strRef>
          </c:tx>
          <c:spPr>
            <a:solidFill>
              <a:schemeClr val="accent2"/>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1-7A68-4C81-84E9-4ED473DC6158}"/>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7A68-4C81-84E9-4ED473DC6158}"/>
              </c:ext>
            </c:extLst>
          </c:dPt>
          <c:dLbls>
            <c:numFmt formatCode="#,##0" sourceLinked="0"/>
            <c:spPr>
              <a:noFill/>
              <a:ln>
                <a:noFill/>
              </a:ln>
              <a:effectLst/>
            </c:spPr>
            <c:txPr>
              <a:bodyPr rot="0" spcFirstLastPara="1" vertOverflow="ellipsis" vert="horz" wrap="square" anchor="ctr" anchorCtr="1"/>
              <a:lstStyle/>
              <a:p>
                <a:pPr>
                  <a:defRPr sz="1800" b="0" i="0" u="none" strike="noStrike" kern="1200" baseline="0">
                    <a:solidFill>
                      <a:srgbClr val="1E293B"/>
                    </a:solidFill>
                    <a:latin typeface="Calibri"/>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Las Margaritas</c:v>
                </c:pt>
                <c:pt idx="1">
                  <c:v>Chicó Norte</c:v>
                </c:pt>
              </c:strCache>
            </c:strRef>
          </c:cat>
          <c:val>
            <c:numRef>
              <c:f>Sheet1!$B$2:$B$3</c:f>
              <c:numCache>
                <c:formatCode>General</c:formatCode>
                <c:ptCount val="2"/>
                <c:pt idx="0">
                  <c:v>783</c:v>
                </c:pt>
                <c:pt idx="1">
                  <c:v>689</c:v>
                </c:pt>
              </c:numCache>
            </c:numRef>
          </c:val>
          <c:extLst>
            <c:ext xmlns:c16="http://schemas.microsoft.com/office/drawing/2014/chart" uri="{C3380CC4-5D6E-409C-BE32-E72D297353CC}">
              <c16:uniqueId val="{00000004-7A68-4C81-84E9-4ED473DC615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1400" b="0" i="0" u="none" strike="noStrike" kern="1200" baseline="0">
                <a:solidFill>
                  <a:srgbClr val="5B7180"/>
                </a:solidFill>
                <a:latin typeface="Calibri"/>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6">
  <a:schemeClr val="accent6"/>
</cs:colorStyle>
</file>

<file path=ppt/charts/colors2.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420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Presentación basada en el guión del video. Apertura a cargo de Rocío.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La base la tomamos del portal de datos abiertos de Colombia. Tiene 168.287 registros y 17 variables: ocho numéricas y nueve categóricas. Un detalle clave: cada fila no es un predio individual, sino un grupo —localidad, UPZ, barrio, destino, estrato y año— con totales agregados. Nos pusimos en el papel de un administrador público con tres preguntas guía: morosos por estrato, barrios que más recaudan, y recaudo por año.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El repositorio tiene cinco archivos: user_interface.py abre el dataset y hace las visualizaciones; business_logic.py contiene toda la lógica; el CSV original; el CSV enriquecido; y el informe. Algo importante: en business_logic.py definimos constantes globales con los nombres de las columnas, para corregirlas una sola vez si cambian. Con esto, le paso la palabra a Luis.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Gracias, Rocío. Antes de crear nada, load_taxes_data() carga el archivo e imputa los faltantes: numéricas con la media, categóricas con la moda, y los códigos de localidad y UPZ iguales a cero con la moda de los válidos. El enriquecimiento ocurre en new_columns(), sobre una copia defensiva con dataframe.copy(), de modo que el original nunca se modifica. Si falta una columna, captura el KeyError y devuelve None, y el proceso se detiene de forma controlada. Aquí creamos tres columnas nuevas.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La primera columna es MEDIA_POR_PREDIO: TOTAL_PAGADO dividido entre TOTAL_PREDIOS, redondeado a dos decimales con .round(2). El total recaudado depende del tamaño del grupo, así que dividirlo da un indicador comparable. Por ejemplo, 402.000 pesos entre 11 predios da 36.545 pesos por predio. Como TOTAL_PREDIOS nunca es cero ni nulo, la división no genera infinitos ni vacíos.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La segunda columna es NOMBRE_SHD. El archivo codifica el destino del predio con un número en DESTINO_SHD; el diccionario CODIGO_SHD lo traduce a texto y la columna se crea con .map(). El dataset mezclaba un sistema anterior, el actual y códigos sin especificar; los unificamos usando los códigos tributarios distritales y nacionales, con apoyo de IA. Al visualizarlo, predominan los residenciales urbanos y rurales con casi 41.000 registros, seguidos del dotacional y el comercial.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La tercera columna es RENTABILIDAD, con un patrón interesante: una función fábrica. profitability() calcula una sola vez la media de TOTAL_PAGADO y dos umbrales, en 0,5 y 1,5 veces esa media, y devuelve una función interna aplicada fila a fila con .apply(). Así la media no se recalcula en cada fila y los umbrales son idénticos para todo el dataset. La regla: por encima de 1,5 veces es ALTA; por debajo de 0,5 es BAJA; en medio, MEDIA. La media ronda los 247 millones; el resultado: 72% BAJA, 17% MEDIA y 11% ALTA. El sesgo es esperable, porque pocos grupos comerciales y dotacionales con recaudos altísimos elevan la media.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Gracias, Luis. Primera pregunta: ¿cuántos predios morosos hay por estrato? La función slow_payers_by_stratus agrupa por estrato y aplica tres agregaciones sobre la columna de morosos: count cuenta los registros de cada estrato; sum suma el total de morosos; y max muestra el registro con más morosos. Según la suma, los estratos con más morosos son el 0, el 2 y el 3. Hay más morosidad en los estratos bajos, que decae al subir el estrato, aunque el estrato 1 no sigue la tendencia.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Segunda pregunta: ¿de qué barrios se recauda más dinero? La función payment_mean_by_neighborhood agrupa por barrio, aplica sum y mean sobre el pago total y ordena de mayor a menor. Añadimos manejo de excepciones con check_for_necessary_columns() e is_numeric_dtype(). Las Margaritas encabeza el recaudo total, unos 783 millones, pero su promedio por predio es cinco veces menor que el de Chicó Norte. Las Margaritas recauda por volumen; el eje Chicó–Santa Bárbara, al norte y de estratos altos, recauda más por cada predio.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Tercera pregunta: ¿cuánto se ha recaudado por año? Creamos un diccionario con el IPC de cierre de cada año, del 2000 al 2025, según el Banco de la República. La función current_total_per_year recibe el dataframe y el año al que actualizar; agrupa por año, suma los pagos nominales y los lleva a precios constantes con la fórmula: valor actual igual a valor por IPC del año objetivo dividido entre el IPC del año del valor. Con 2023 como referencia, el mayor recaudo fue 2020, seguido de 2013 y 2018. Se observa una relación inversa con la inflación: a menor IPC, mayor recaudo. Le devuelvo la palabra a Rocío.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Gracias, Juan. Tres observaciones para interpretar bien las columnas derivadas. Primera: 13.731 registros, el 8,2%, llegaron sin valor en TOTAL_PAGADO y se imputaron con la media; en esos casos MEDIA_POR_PREDIO y RENTABILIDAD provienen de un valor imputado. Segunda: si aparecen nuevos códigos de destino, hay que agregarlos al diccionario CODIGO_SHD. Tercera: los umbrales de rentabilidad se basan en la media, pero podrían usarse cuartiles o terciles.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En cuanto a las conclusiones: sobre la morosidad por estrato, no hay evidencia estadística suficiente para afirmar una relación clara, sobre todo por la anomalía del estrato 1. Sobre los barrios, Las Margaritas recauda por volumen y el eje Chicó–Santa Bárbara por valor por predio; conviene mantener o mejorar los avalúos y la infraestructura. Sobre el recaudo por año, los picos de 2020, 2013 y 2018 confirman la relación inversa con el IPC; 2020 se explica además por los incentivos públicos de pago en pandemia, como la reducción de intereses de mora.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Cierre a cargo de Rocío. Con esto cerramos. Gracias por acompañarnos.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43"/>
        </a:solidFill>
        <a:effectLst/>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163A52"/>
          </a:solidFill>
          <a:ln/>
        </p:spPr>
        <p:txBody>
          <a:bodyPr/>
          <a:lstStyle/>
          <a:p>
            <a:endParaRPr lang="es-CO"/>
          </a:p>
        </p:txBody>
      </p:sp>
      <p:sp>
        <p:nvSpPr>
          <p:cNvPr id="3" name="Shape 1"/>
          <p:cNvSpPr/>
          <p:nvPr/>
        </p:nvSpPr>
        <p:spPr>
          <a:xfrm>
            <a:off x="-1280160" y="4572000"/>
            <a:ext cx="3474720" cy="3474720"/>
          </a:xfrm>
          <a:prstGeom prst="ellipse">
            <a:avLst/>
          </a:prstGeom>
          <a:solidFill>
            <a:srgbClr val="163A52"/>
          </a:solidFill>
          <a:ln/>
        </p:spPr>
        <p:txBody>
          <a:bodyPr/>
          <a:lstStyle/>
          <a:p>
            <a:endParaRPr lang="es-CO"/>
          </a:p>
        </p:txBody>
      </p:sp>
      <p:sp>
        <p:nvSpPr>
          <p:cNvPr id="4" name="Text 2"/>
          <p:cNvSpPr/>
          <p:nvPr/>
        </p:nvSpPr>
        <p:spPr>
          <a:xfrm>
            <a:off x="472440" y="1849732"/>
            <a:ext cx="10058400" cy="365760"/>
          </a:xfrm>
          <a:prstGeom prst="rect">
            <a:avLst/>
          </a:prstGeom>
          <a:noFill/>
          <a:ln/>
        </p:spPr>
        <p:txBody>
          <a:bodyPr wrap="square" lIns="0" tIns="0" rIns="0" bIns="0" rtlCol="0" anchor="ctr"/>
          <a:lstStyle/>
          <a:p>
            <a:pPr marL="0" indent="0">
              <a:buNone/>
            </a:pPr>
            <a:r>
              <a:rPr lang="en-US" sz="1400" b="1" kern="0" spc="200" dirty="0">
                <a:solidFill>
                  <a:srgbClr val="7FB3C7"/>
                </a:solidFill>
                <a:latin typeface="Calibri" pitchFamily="34" charset="0"/>
                <a:ea typeface="Calibri" pitchFamily="34" charset="-122"/>
                <a:cs typeface="Calibri" pitchFamily="34" charset="-120"/>
              </a:rPr>
              <a:t>PROGRAMACIÓN PARA CIENCIA DE DATOS</a:t>
            </a:r>
            <a:endParaRPr lang="en-US" sz="1400" dirty="0"/>
          </a:p>
        </p:txBody>
      </p:sp>
      <p:sp>
        <p:nvSpPr>
          <p:cNvPr id="5" name="Text 3"/>
          <p:cNvSpPr/>
          <p:nvPr/>
        </p:nvSpPr>
        <p:spPr>
          <a:xfrm>
            <a:off x="472440" y="2352652"/>
            <a:ext cx="10789920" cy="1737360"/>
          </a:xfrm>
          <a:prstGeom prst="rect">
            <a:avLst/>
          </a:prstGeom>
          <a:noFill/>
          <a:ln/>
        </p:spPr>
        <p:txBody>
          <a:bodyPr wrap="square" lIns="0" tIns="0" rIns="0" bIns="0" rtlCol="0" anchor="t"/>
          <a:lstStyle/>
          <a:p>
            <a:pPr marL="0" indent="0">
              <a:lnSpc>
                <a:spcPct val="102000"/>
              </a:lnSpc>
              <a:buNone/>
            </a:pPr>
            <a:r>
              <a:rPr lang="en-US" sz="3800" b="1" dirty="0">
                <a:solidFill>
                  <a:srgbClr val="FFFFFF"/>
                </a:solidFill>
                <a:latin typeface="Cambria" pitchFamily="34" charset="0"/>
                <a:ea typeface="Cambria" pitchFamily="34" charset="-122"/>
                <a:cs typeface="Cambria" pitchFamily="34" charset="-120"/>
              </a:rPr>
              <a:t>Codificación en Python del Impuesto Predial de Bogotá D.C. (2007–2023) y análisis de resultados</a:t>
            </a:r>
            <a:endParaRPr lang="en-US" sz="3800" dirty="0"/>
          </a:p>
        </p:txBody>
      </p:sp>
      <p:sp>
        <p:nvSpPr>
          <p:cNvPr id="6" name="Shape 4"/>
          <p:cNvSpPr/>
          <p:nvPr/>
        </p:nvSpPr>
        <p:spPr>
          <a:xfrm>
            <a:off x="548640" y="4114800"/>
            <a:ext cx="502920" cy="45720"/>
          </a:xfrm>
          <a:prstGeom prst="rect">
            <a:avLst/>
          </a:prstGeom>
          <a:solidFill>
            <a:srgbClr val="1C7293"/>
          </a:solidFill>
          <a:ln/>
        </p:spPr>
        <p:txBody>
          <a:bodyPr/>
          <a:lstStyle/>
          <a:p>
            <a:endParaRPr lang="es-CO"/>
          </a:p>
        </p:txBody>
      </p:sp>
      <p:sp>
        <p:nvSpPr>
          <p:cNvPr id="7" name="Text 5"/>
          <p:cNvSpPr/>
          <p:nvPr/>
        </p:nvSpPr>
        <p:spPr>
          <a:xfrm>
            <a:off x="472440" y="4958692"/>
            <a:ext cx="6400800" cy="1097280"/>
          </a:xfrm>
          <a:prstGeom prst="rect">
            <a:avLst/>
          </a:prstGeom>
          <a:noFill/>
          <a:ln/>
        </p:spPr>
        <p:txBody>
          <a:bodyPr wrap="square" lIns="0" tIns="0" rIns="0" bIns="0" rtlCol="0" anchor="ctr"/>
          <a:lstStyle/>
          <a:p>
            <a:pPr marL="0" indent="0">
              <a:lnSpc>
                <a:spcPct val="115000"/>
              </a:lnSpc>
              <a:buNone/>
            </a:pPr>
            <a:r>
              <a:rPr lang="en-US" sz="2000" dirty="0" err="1">
                <a:solidFill>
                  <a:srgbClr val="D6E6EE"/>
                </a:solidFill>
                <a:latin typeface="Calibri" pitchFamily="34" charset="0"/>
                <a:ea typeface="Calibri" pitchFamily="34" charset="-122"/>
                <a:cs typeface="Calibri" pitchFamily="34" charset="-120"/>
              </a:rPr>
              <a:t>Autores</a:t>
            </a:r>
            <a:r>
              <a:rPr lang="en-US" sz="2000" dirty="0">
                <a:solidFill>
                  <a:srgbClr val="D6E6EE"/>
                </a:solidFill>
                <a:latin typeface="Calibri" pitchFamily="34" charset="0"/>
                <a:ea typeface="Calibri" pitchFamily="34" charset="-122"/>
                <a:cs typeface="Calibri" pitchFamily="34" charset="-120"/>
              </a:rPr>
              <a:t>:</a:t>
            </a:r>
          </a:p>
          <a:p>
            <a:pPr marL="0" indent="0">
              <a:lnSpc>
                <a:spcPct val="115000"/>
              </a:lnSpc>
              <a:buNone/>
            </a:pPr>
            <a:r>
              <a:rPr lang="en-US" sz="2000" dirty="0">
                <a:solidFill>
                  <a:srgbClr val="D6E6EE"/>
                </a:solidFill>
                <a:latin typeface="Calibri" pitchFamily="34" charset="0"/>
                <a:ea typeface="Calibri" pitchFamily="34" charset="-122"/>
                <a:cs typeface="Calibri" pitchFamily="34" charset="-120"/>
              </a:rPr>
              <a:t>Juan Camilo Quintero Galvis</a:t>
            </a:r>
            <a:endParaRPr lang="en-US" sz="2000" dirty="0"/>
          </a:p>
          <a:p>
            <a:pPr marL="0" indent="0">
              <a:lnSpc>
                <a:spcPct val="115000"/>
              </a:lnSpc>
              <a:buNone/>
            </a:pPr>
            <a:r>
              <a:rPr lang="en-US" sz="2000" dirty="0">
                <a:solidFill>
                  <a:srgbClr val="D6E6EE"/>
                </a:solidFill>
                <a:latin typeface="Calibri" pitchFamily="34" charset="0"/>
                <a:ea typeface="Calibri" pitchFamily="34" charset="-122"/>
                <a:cs typeface="Calibri" pitchFamily="34" charset="-120"/>
              </a:rPr>
              <a:t>Luis Felipe Orduz Contreras</a:t>
            </a:r>
            <a:endParaRPr lang="en-US" sz="2000" dirty="0"/>
          </a:p>
          <a:p>
            <a:pPr marL="0" indent="0">
              <a:lnSpc>
                <a:spcPct val="115000"/>
              </a:lnSpc>
              <a:buNone/>
            </a:pPr>
            <a:r>
              <a:rPr lang="en-US" sz="2000" dirty="0">
                <a:solidFill>
                  <a:srgbClr val="D6E6EE"/>
                </a:solidFill>
                <a:latin typeface="Calibri" pitchFamily="34" charset="0"/>
                <a:ea typeface="Calibri" pitchFamily="34" charset="-122"/>
                <a:cs typeface="Calibri" pitchFamily="34" charset="-120"/>
              </a:rPr>
              <a:t>Rocío Tíjaro Rojas</a:t>
            </a:r>
            <a:endParaRPr lang="en-US" sz="2000" dirty="0"/>
          </a:p>
        </p:txBody>
      </p:sp>
      <p:sp>
        <p:nvSpPr>
          <p:cNvPr id="8" name="Text 6"/>
          <p:cNvSpPr/>
          <p:nvPr/>
        </p:nvSpPr>
        <p:spPr>
          <a:xfrm>
            <a:off x="6949440" y="4958692"/>
            <a:ext cx="4617720" cy="1097280"/>
          </a:xfrm>
          <a:prstGeom prst="rect">
            <a:avLst/>
          </a:prstGeom>
          <a:noFill/>
          <a:ln/>
        </p:spPr>
        <p:txBody>
          <a:bodyPr wrap="square" lIns="0" tIns="0" rIns="0" bIns="0" rtlCol="0" anchor="ctr"/>
          <a:lstStyle/>
          <a:p>
            <a:pPr marL="0" indent="0" algn="r">
              <a:lnSpc>
                <a:spcPct val="115000"/>
              </a:lnSpc>
              <a:buNone/>
            </a:pPr>
            <a:r>
              <a:rPr lang="en-US" b="1" dirty="0">
                <a:solidFill>
                  <a:srgbClr val="9FC2D1"/>
                </a:solidFill>
                <a:latin typeface="Calibri" pitchFamily="34" charset="0"/>
                <a:ea typeface="Calibri" pitchFamily="34" charset="-122"/>
                <a:cs typeface="Calibri" pitchFamily="34" charset="-120"/>
              </a:rPr>
              <a:t>Universidad del Magdalena</a:t>
            </a:r>
            <a:endParaRPr lang="en-US" dirty="0"/>
          </a:p>
          <a:p>
            <a:pPr marL="0" indent="0" algn="r">
              <a:lnSpc>
                <a:spcPct val="115000"/>
              </a:lnSpc>
              <a:buNone/>
            </a:pPr>
            <a:r>
              <a:rPr lang="en-US" dirty="0">
                <a:solidFill>
                  <a:srgbClr val="9FC2D1"/>
                </a:solidFill>
                <a:latin typeface="Calibri" pitchFamily="34" charset="0"/>
                <a:ea typeface="Calibri" pitchFamily="34" charset="-122"/>
                <a:cs typeface="Calibri" pitchFamily="34" charset="-120"/>
              </a:rPr>
              <a:t>Especialización en Machine Learning Aplicado</a:t>
            </a:r>
            <a:endParaRPr lang="en-US" dirty="0"/>
          </a:p>
          <a:p>
            <a:pPr marL="0" indent="0" algn="r">
              <a:lnSpc>
                <a:spcPct val="115000"/>
              </a:lnSpc>
              <a:buNone/>
            </a:pPr>
            <a:r>
              <a:rPr lang="en-US" dirty="0">
                <a:solidFill>
                  <a:srgbClr val="9FC2D1"/>
                </a:solidFill>
                <a:latin typeface="Calibri" pitchFamily="34" charset="0"/>
                <a:ea typeface="Calibri" pitchFamily="34" charset="-122"/>
                <a:cs typeface="Calibri" pitchFamily="34" charset="-120"/>
              </a:rPr>
              <a:t>Docente: Ph.D. Ernesto Galvis Lista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C7293"/>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El dataset y las preguntas guía</a:t>
            </a:r>
            <a:endParaRPr lang="en-US" sz="3000" dirty="0"/>
          </a:p>
        </p:txBody>
      </p:sp>
      <p:sp>
        <p:nvSpPr>
          <p:cNvPr id="6" name="Text 3"/>
          <p:cNvSpPr/>
          <p:nvPr/>
        </p:nvSpPr>
        <p:spPr>
          <a:xfrm>
            <a:off x="9326880" y="530352"/>
            <a:ext cx="2286000" cy="420624"/>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ROCÍO</a:t>
            </a:r>
            <a:endParaRPr lang="en-US" sz="1250" dirty="0"/>
          </a:p>
        </p:txBody>
      </p:sp>
      <p:sp>
        <p:nvSpPr>
          <p:cNvPr id="7" name="Text 4"/>
          <p:cNvSpPr/>
          <p:nvPr/>
        </p:nvSpPr>
        <p:spPr>
          <a:xfrm>
            <a:off x="548640" y="1554480"/>
            <a:ext cx="4937760" cy="502920"/>
          </a:xfrm>
          <a:prstGeom prst="rect">
            <a:avLst/>
          </a:prstGeom>
          <a:noFill/>
          <a:ln/>
        </p:spPr>
        <p:txBody>
          <a:bodyPr wrap="square" lIns="0" tIns="0" rIns="0" bIns="0"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168.287</a:t>
            </a:r>
            <a:endParaRPr lang="en-US" sz="3000" dirty="0"/>
          </a:p>
        </p:txBody>
      </p:sp>
      <p:sp>
        <p:nvSpPr>
          <p:cNvPr id="8" name="Text 5"/>
          <p:cNvSpPr/>
          <p:nvPr/>
        </p:nvSpPr>
        <p:spPr>
          <a:xfrm>
            <a:off x="548640" y="2057400"/>
            <a:ext cx="5120640" cy="411480"/>
          </a:xfrm>
          <a:prstGeom prst="rect">
            <a:avLst/>
          </a:prstGeom>
          <a:noFill/>
          <a:ln/>
        </p:spPr>
        <p:txBody>
          <a:bodyPr wrap="square" lIns="0" tIns="0" rIns="0" bIns="0" rtlCol="0" anchor="ctr"/>
          <a:lstStyle/>
          <a:p>
            <a:pPr marL="0" indent="0">
              <a:buNone/>
            </a:pPr>
            <a:r>
              <a:rPr lang="en-US" dirty="0">
                <a:solidFill>
                  <a:srgbClr val="5B7180"/>
                </a:solidFill>
                <a:latin typeface="Calibri" pitchFamily="34" charset="0"/>
                <a:ea typeface="Calibri" pitchFamily="34" charset="-122"/>
                <a:cs typeface="Calibri" pitchFamily="34" charset="-120"/>
              </a:rPr>
              <a:t>registros (cada fila = un grupo)</a:t>
            </a:r>
            <a:endParaRPr lang="en-US" dirty="0"/>
          </a:p>
        </p:txBody>
      </p:sp>
      <p:sp>
        <p:nvSpPr>
          <p:cNvPr id="9" name="Text 6"/>
          <p:cNvSpPr/>
          <p:nvPr/>
        </p:nvSpPr>
        <p:spPr>
          <a:xfrm>
            <a:off x="548640" y="2651760"/>
            <a:ext cx="4937760" cy="502920"/>
          </a:xfrm>
          <a:prstGeom prst="rect">
            <a:avLst/>
          </a:prstGeom>
          <a:noFill/>
          <a:ln/>
        </p:spPr>
        <p:txBody>
          <a:bodyPr wrap="square" lIns="0" tIns="0" rIns="0" bIns="0"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17</a:t>
            </a:r>
            <a:endParaRPr lang="en-US" sz="3000" dirty="0"/>
          </a:p>
        </p:txBody>
      </p:sp>
      <p:sp>
        <p:nvSpPr>
          <p:cNvPr id="10" name="Text 7"/>
          <p:cNvSpPr/>
          <p:nvPr/>
        </p:nvSpPr>
        <p:spPr>
          <a:xfrm>
            <a:off x="548640" y="3154680"/>
            <a:ext cx="5120640" cy="411480"/>
          </a:xfrm>
          <a:prstGeom prst="rect">
            <a:avLst/>
          </a:prstGeom>
          <a:noFill/>
          <a:ln/>
        </p:spPr>
        <p:txBody>
          <a:bodyPr wrap="square" lIns="0" tIns="0" rIns="0" bIns="0" rtlCol="0" anchor="ctr"/>
          <a:lstStyle/>
          <a:p>
            <a:r>
              <a:rPr lang="en-US" dirty="0">
                <a:solidFill>
                  <a:srgbClr val="5B7180"/>
                </a:solidFill>
                <a:latin typeface="Calibri" pitchFamily="34" charset="0"/>
                <a:ea typeface="Calibri" pitchFamily="34" charset="-122"/>
                <a:cs typeface="Calibri" pitchFamily="34" charset="-120"/>
              </a:rPr>
              <a:t>variables: 8 numéricas · 9 </a:t>
            </a:r>
            <a:r>
              <a:rPr lang="en-US" dirty="0" err="1">
                <a:solidFill>
                  <a:srgbClr val="5B7180"/>
                </a:solidFill>
                <a:latin typeface="Calibri" pitchFamily="34" charset="0"/>
                <a:ea typeface="Calibri" pitchFamily="34" charset="-122"/>
                <a:cs typeface="Calibri" pitchFamily="34" charset="-120"/>
              </a:rPr>
              <a:t>categóricas</a:t>
            </a:r>
            <a:endParaRPr lang="en-US" dirty="0">
              <a:solidFill>
                <a:srgbClr val="5B7180"/>
              </a:solidFill>
              <a:latin typeface="Calibri" pitchFamily="34" charset="0"/>
              <a:ea typeface="Calibri" pitchFamily="34" charset="-122"/>
              <a:cs typeface="Calibri" pitchFamily="34" charset="-120"/>
            </a:endParaRPr>
          </a:p>
        </p:txBody>
      </p:sp>
      <p:sp>
        <p:nvSpPr>
          <p:cNvPr id="11" name="Text 8"/>
          <p:cNvSpPr/>
          <p:nvPr/>
        </p:nvSpPr>
        <p:spPr>
          <a:xfrm>
            <a:off x="548640" y="3749040"/>
            <a:ext cx="4937760" cy="502920"/>
          </a:xfrm>
          <a:prstGeom prst="rect">
            <a:avLst/>
          </a:prstGeom>
          <a:noFill/>
          <a:ln/>
        </p:spPr>
        <p:txBody>
          <a:bodyPr wrap="square" lIns="0" tIns="0" rIns="0" bIns="0"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datos.gov.co</a:t>
            </a:r>
            <a:endParaRPr lang="en-US" sz="3000" dirty="0"/>
          </a:p>
        </p:txBody>
      </p:sp>
      <p:sp>
        <p:nvSpPr>
          <p:cNvPr id="12" name="Text 9"/>
          <p:cNvSpPr/>
          <p:nvPr/>
        </p:nvSpPr>
        <p:spPr>
          <a:xfrm>
            <a:off x="548640" y="4251960"/>
            <a:ext cx="5120640" cy="411480"/>
          </a:xfrm>
          <a:prstGeom prst="rect">
            <a:avLst/>
          </a:prstGeom>
          <a:noFill/>
          <a:ln/>
        </p:spPr>
        <p:txBody>
          <a:bodyPr wrap="square" lIns="0" tIns="0" rIns="0" bIns="0" rtlCol="0" anchor="ctr"/>
          <a:lstStyle/>
          <a:p>
            <a:pPr marL="0" indent="0">
              <a:buNone/>
            </a:pPr>
            <a:r>
              <a:rPr lang="en-US" sz="1600" dirty="0">
                <a:solidFill>
                  <a:srgbClr val="5B7180"/>
                </a:solidFill>
                <a:latin typeface="Calibri" pitchFamily="34" charset="0"/>
                <a:ea typeface="Calibri" pitchFamily="34" charset="-122"/>
                <a:cs typeface="Calibri" pitchFamily="34" charset="-120"/>
              </a:rPr>
              <a:t>portal de datos abiertos de Colombia</a:t>
            </a:r>
            <a:endParaRPr lang="en-US" sz="1600" dirty="0"/>
          </a:p>
        </p:txBody>
      </p:sp>
      <p:sp>
        <p:nvSpPr>
          <p:cNvPr id="13" name="Text 10"/>
          <p:cNvSpPr/>
          <p:nvPr/>
        </p:nvSpPr>
        <p:spPr>
          <a:xfrm>
            <a:off x="548640" y="5029200"/>
            <a:ext cx="5212080" cy="1097280"/>
          </a:xfrm>
          <a:prstGeom prst="rect">
            <a:avLst/>
          </a:prstGeom>
          <a:noFill/>
          <a:ln/>
        </p:spPr>
        <p:txBody>
          <a:bodyPr wrap="square" lIns="0" tIns="0" rIns="0" bIns="0" rtlCol="0" anchor="t"/>
          <a:lstStyle/>
          <a:p>
            <a:pPr marL="0" indent="0">
              <a:buNone/>
            </a:pPr>
            <a:r>
              <a:rPr lang="en-US" i="1" dirty="0">
                <a:solidFill>
                  <a:srgbClr val="1E293B"/>
                </a:solidFill>
                <a:latin typeface="Calibri" pitchFamily="34" charset="0"/>
                <a:ea typeface="Calibri" pitchFamily="34" charset="-122"/>
                <a:cs typeface="Calibri" pitchFamily="34" charset="-120"/>
              </a:rPr>
              <a:t>Cada fila no es un predio individual, sino la combinación de localidad, UPZ, barrio, destino hacendario, estrato y año gravable, con totales </a:t>
            </a:r>
            <a:r>
              <a:rPr lang="en-US" i="1" dirty="0" err="1">
                <a:solidFill>
                  <a:srgbClr val="1E293B"/>
                </a:solidFill>
                <a:latin typeface="Calibri" pitchFamily="34" charset="0"/>
                <a:ea typeface="Calibri" pitchFamily="34" charset="-122"/>
                <a:cs typeface="Calibri" pitchFamily="34" charset="-120"/>
              </a:rPr>
              <a:t>agregados</a:t>
            </a:r>
            <a:r>
              <a:rPr lang="en-US" i="1" dirty="0">
                <a:solidFill>
                  <a:srgbClr val="1E293B"/>
                </a:solidFill>
                <a:latin typeface="Calibri" pitchFamily="34" charset="0"/>
                <a:ea typeface="Calibri" pitchFamily="34" charset="-122"/>
                <a:cs typeface="Calibri" pitchFamily="34" charset="-120"/>
              </a:rPr>
              <a:t>.</a:t>
            </a:r>
          </a:p>
          <a:p>
            <a:r>
              <a:rPr lang="es-CO" dirty="0"/>
              <a:t>		</a:t>
            </a:r>
            <a:r>
              <a:rPr lang="es-CO" i="1" dirty="0"/>
              <a:t>Decreto Distrital 352 de 2002</a:t>
            </a:r>
            <a:endParaRPr lang="en-US" i="1" dirty="0"/>
          </a:p>
        </p:txBody>
      </p:sp>
      <p:sp>
        <p:nvSpPr>
          <p:cNvPr id="16" name="Shape 13"/>
          <p:cNvSpPr/>
          <p:nvPr/>
        </p:nvSpPr>
        <p:spPr>
          <a:xfrm>
            <a:off x="6400800" y="2606040"/>
            <a:ext cx="502920" cy="502920"/>
          </a:xfrm>
          <a:prstGeom prst="ellipse">
            <a:avLst/>
          </a:prstGeom>
          <a:solidFill>
            <a:srgbClr val="1C7293"/>
          </a:solidFill>
          <a:ln/>
        </p:spPr>
        <p:txBody>
          <a:bodyPr/>
          <a:lstStyle/>
          <a:p>
            <a:endParaRPr lang="es-CO"/>
          </a:p>
        </p:txBody>
      </p:sp>
      <p:sp>
        <p:nvSpPr>
          <p:cNvPr id="17" name="Text 14"/>
          <p:cNvSpPr/>
          <p:nvPr/>
        </p:nvSpPr>
        <p:spPr>
          <a:xfrm>
            <a:off x="6400800" y="26060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9" name="Shape 16"/>
          <p:cNvSpPr/>
          <p:nvPr/>
        </p:nvSpPr>
        <p:spPr>
          <a:xfrm>
            <a:off x="6400800" y="3566160"/>
            <a:ext cx="502920" cy="502920"/>
          </a:xfrm>
          <a:prstGeom prst="ellipse">
            <a:avLst/>
          </a:prstGeom>
          <a:solidFill>
            <a:srgbClr val="1C7293"/>
          </a:solidFill>
          <a:ln/>
        </p:spPr>
        <p:txBody>
          <a:bodyPr/>
          <a:lstStyle/>
          <a:p>
            <a:endParaRPr lang="es-CO"/>
          </a:p>
        </p:txBody>
      </p:sp>
      <p:sp>
        <p:nvSpPr>
          <p:cNvPr id="20" name="Text 17"/>
          <p:cNvSpPr/>
          <p:nvPr/>
        </p:nvSpPr>
        <p:spPr>
          <a:xfrm>
            <a:off x="6400800" y="3566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3" name="Text 20"/>
          <p:cNvSpPr/>
          <p:nvPr/>
        </p:nvSpPr>
        <p:spPr>
          <a:xfrm>
            <a:off x="6400800" y="45262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pic>
        <p:nvPicPr>
          <p:cNvPr id="25" name="Imagen 24">
            <a:extLst>
              <a:ext uri="{FF2B5EF4-FFF2-40B4-BE49-F238E27FC236}">
                <a16:creationId xmlns:a16="http://schemas.microsoft.com/office/drawing/2014/main" id="{11B91CB3-62CC-E454-1005-FB0604C7413D}"/>
              </a:ext>
            </a:extLst>
          </p:cNvPr>
          <p:cNvPicPr>
            <a:picLocks noChangeAspect="1"/>
          </p:cNvPicPr>
          <p:nvPr/>
        </p:nvPicPr>
        <p:blipFill>
          <a:blip r:embed="rId4"/>
          <a:srcRect r="48677"/>
          <a:stretch>
            <a:fillRect/>
          </a:stretch>
        </p:blipFill>
        <p:spPr>
          <a:xfrm>
            <a:off x="6263639" y="1281985"/>
            <a:ext cx="5527592" cy="3105310"/>
          </a:xfrm>
          <a:prstGeom prst="rect">
            <a:avLst/>
          </a:prstGeom>
        </p:spPr>
      </p:pic>
      <p:pic>
        <p:nvPicPr>
          <p:cNvPr id="27" name="Imagen 26">
            <a:extLst>
              <a:ext uri="{FF2B5EF4-FFF2-40B4-BE49-F238E27FC236}">
                <a16:creationId xmlns:a16="http://schemas.microsoft.com/office/drawing/2014/main" id="{13B77239-4E53-4904-C788-843587BE0012}"/>
              </a:ext>
            </a:extLst>
          </p:cNvPr>
          <p:cNvPicPr>
            <a:picLocks noChangeAspect="1"/>
          </p:cNvPicPr>
          <p:nvPr/>
        </p:nvPicPr>
        <p:blipFill>
          <a:blip r:embed="rId4"/>
          <a:srcRect l="51606"/>
          <a:stretch>
            <a:fillRect/>
          </a:stretch>
        </p:blipFill>
        <p:spPr>
          <a:xfrm>
            <a:off x="6652260" y="3566160"/>
            <a:ext cx="5212081" cy="31053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C7293"/>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Organización de los archivos</a:t>
            </a:r>
            <a:endParaRPr lang="en-US" sz="3000" dirty="0"/>
          </a:p>
        </p:txBody>
      </p:sp>
      <p:sp>
        <p:nvSpPr>
          <p:cNvPr id="6" name="Text 3"/>
          <p:cNvSpPr/>
          <p:nvPr/>
        </p:nvSpPr>
        <p:spPr>
          <a:xfrm>
            <a:off x="9326880" y="530352"/>
            <a:ext cx="2286000" cy="420624"/>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ROCÍO</a:t>
            </a:r>
            <a:endParaRPr lang="en-US" sz="1250" dirty="0"/>
          </a:p>
        </p:txBody>
      </p:sp>
      <p:sp>
        <p:nvSpPr>
          <p:cNvPr id="7" name="Shape 4"/>
          <p:cNvSpPr/>
          <p:nvPr/>
        </p:nvSpPr>
        <p:spPr>
          <a:xfrm>
            <a:off x="548640" y="1600200"/>
            <a:ext cx="6675120" cy="749808"/>
          </a:xfrm>
          <a:prstGeom prst="roundRect">
            <a:avLst>
              <a:gd name="adj" fmla="val 7317"/>
            </a:avLst>
          </a:prstGeom>
          <a:solidFill>
            <a:srgbClr val="F2F6F8"/>
          </a:solidFill>
          <a:ln/>
        </p:spPr>
        <p:txBody>
          <a:bodyPr/>
          <a:lstStyle/>
          <a:p>
            <a:endParaRPr lang="es-CO"/>
          </a:p>
        </p:txBody>
      </p:sp>
      <p:sp>
        <p:nvSpPr>
          <p:cNvPr id="8" name="Text 5"/>
          <p:cNvSpPr/>
          <p:nvPr/>
        </p:nvSpPr>
        <p:spPr>
          <a:xfrm>
            <a:off x="777240" y="1691640"/>
            <a:ext cx="6309360" cy="310896"/>
          </a:xfrm>
          <a:prstGeom prst="rect">
            <a:avLst/>
          </a:prstGeom>
          <a:noFill/>
          <a:ln/>
        </p:spPr>
        <p:txBody>
          <a:bodyPr wrap="square" lIns="0" tIns="0" rIns="0" bIns="0" rtlCol="0" anchor="ctr"/>
          <a:lstStyle/>
          <a:p>
            <a:pPr marL="0" indent="0">
              <a:buNone/>
            </a:pPr>
            <a:r>
              <a:rPr lang="en-US" sz="2000" b="1" dirty="0">
                <a:solidFill>
                  <a:srgbClr val="2F6690"/>
                </a:solidFill>
                <a:latin typeface="Courier New" pitchFamily="34" charset="0"/>
                <a:ea typeface="Courier New" pitchFamily="34" charset="-122"/>
                <a:cs typeface="Courier New" pitchFamily="34" charset="-120"/>
              </a:rPr>
              <a:t>user_interface.py</a:t>
            </a:r>
            <a:endParaRPr lang="en-US" sz="2000" dirty="0"/>
          </a:p>
        </p:txBody>
      </p:sp>
      <p:sp>
        <p:nvSpPr>
          <p:cNvPr id="9" name="Text 6"/>
          <p:cNvSpPr/>
          <p:nvPr/>
        </p:nvSpPr>
        <p:spPr>
          <a:xfrm>
            <a:off x="777240" y="1993392"/>
            <a:ext cx="6309360" cy="274320"/>
          </a:xfrm>
          <a:prstGeom prst="rect">
            <a:avLst/>
          </a:prstGeom>
          <a:noFill/>
          <a:ln/>
        </p:spPr>
        <p:txBody>
          <a:bodyPr wrap="square" lIns="0" tIns="0" rIns="0" bIns="0" rtlCol="0" anchor="ctr"/>
          <a:lstStyle/>
          <a:p>
            <a:pPr marL="0" indent="0">
              <a:buNone/>
            </a:pPr>
            <a:r>
              <a:rPr lang="en-US" sz="1600" dirty="0">
                <a:solidFill>
                  <a:srgbClr val="5B7180"/>
                </a:solidFill>
                <a:latin typeface="Calibri" pitchFamily="34" charset="0"/>
                <a:ea typeface="Calibri" pitchFamily="34" charset="-122"/>
                <a:cs typeface="Calibri" pitchFamily="34" charset="-120"/>
              </a:rPr>
              <a:t>Abre el dataset, exploración inicial e impresión de visualizaciones.</a:t>
            </a:r>
            <a:endParaRPr lang="en-US" sz="1600" dirty="0"/>
          </a:p>
        </p:txBody>
      </p:sp>
      <p:sp>
        <p:nvSpPr>
          <p:cNvPr id="10" name="Shape 7"/>
          <p:cNvSpPr/>
          <p:nvPr/>
        </p:nvSpPr>
        <p:spPr>
          <a:xfrm>
            <a:off x="548640" y="2487168"/>
            <a:ext cx="6675120" cy="749808"/>
          </a:xfrm>
          <a:prstGeom prst="roundRect">
            <a:avLst>
              <a:gd name="adj" fmla="val 7317"/>
            </a:avLst>
          </a:prstGeom>
          <a:solidFill>
            <a:srgbClr val="F2F6F8"/>
          </a:solidFill>
          <a:ln/>
        </p:spPr>
        <p:txBody>
          <a:bodyPr/>
          <a:lstStyle/>
          <a:p>
            <a:endParaRPr lang="es-CO" sz="2800"/>
          </a:p>
        </p:txBody>
      </p:sp>
      <p:sp>
        <p:nvSpPr>
          <p:cNvPr id="11" name="Text 8"/>
          <p:cNvSpPr/>
          <p:nvPr/>
        </p:nvSpPr>
        <p:spPr>
          <a:xfrm>
            <a:off x="777240" y="2578608"/>
            <a:ext cx="6309360" cy="310896"/>
          </a:xfrm>
          <a:prstGeom prst="rect">
            <a:avLst/>
          </a:prstGeom>
          <a:noFill/>
          <a:ln/>
        </p:spPr>
        <p:txBody>
          <a:bodyPr wrap="square" lIns="0" tIns="0" rIns="0" bIns="0" rtlCol="0" anchor="ctr"/>
          <a:lstStyle/>
          <a:p>
            <a:pPr marL="0" indent="0">
              <a:buNone/>
            </a:pPr>
            <a:r>
              <a:rPr lang="en-US" sz="2000" b="1" dirty="0">
                <a:solidFill>
                  <a:srgbClr val="2F6690"/>
                </a:solidFill>
                <a:latin typeface="Courier New" pitchFamily="34" charset="0"/>
                <a:ea typeface="Courier New" pitchFamily="34" charset="-122"/>
                <a:cs typeface="Courier New" pitchFamily="34" charset="-120"/>
              </a:rPr>
              <a:t>business_logic.py</a:t>
            </a:r>
            <a:endParaRPr lang="en-US" sz="2000" dirty="0"/>
          </a:p>
        </p:txBody>
      </p:sp>
      <p:sp>
        <p:nvSpPr>
          <p:cNvPr id="12" name="Text 9"/>
          <p:cNvSpPr/>
          <p:nvPr/>
        </p:nvSpPr>
        <p:spPr>
          <a:xfrm>
            <a:off x="777240" y="2880360"/>
            <a:ext cx="6309360" cy="274320"/>
          </a:xfrm>
          <a:prstGeom prst="rect">
            <a:avLst/>
          </a:prstGeom>
          <a:noFill/>
          <a:ln/>
        </p:spPr>
        <p:txBody>
          <a:bodyPr wrap="square" lIns="0" tIns="0" rIns="0" bIns="0" rtlCol="0" anchor="ctr"/>
          <a:lstStyle/>
          <a:p>
            <a:pPr marL="0" indent="0">
              <a:buNone/>
            </a:pPr>
            <a:r>
              <a:rPr lang="en-US" sz="1600" dirty="0">
                <a:solidFill>
                  <a:srgbClr val="5B7180"/>
                </a:solidFill>
                <a:latin typeface="Calibri" pitchFamily="34" charset="0"/>
                <a:ea typeface="Calibri" pitchFamily="34" charset="-122"/>
                <a:cs typeface="Calibri" pitchFamily="34" charset="-120"/>
              </a:rPr>
              <a:t>Toda la lógica: carga, imputación y enriquecimiento.</a:t>
            </a:r>
            <a:endParaRPr lang="en-US" sz="1600" dirty="0"/>
          </a:p>
        </p:txBody>
      </p:sp>
      <p:sp>
        <p:nvSpPr>
          <p:cNvPr id="13" name="Shape 10"/>
          <p:cNvSpPr/>
          <p:nvPr/>
        </p:nvSpPr>
        <p:spPr>
          <a:xfrm>
            <a:off x="548640" y="3374136"/>
            <a:ext cx="6675120" cy="749808"/>
          </a:xfrm>
          <a:prstGeom prst="roundRect">
            <a:avLst>
              <a:gd name="adj" fmla="val 7317"/>
            </a:avLst>
          </a:prstGeom>
          <a:solidFill>
            <a:srgbClr val="F2F6F8"/>
          </a:solidFill>
          <a:ln/>
        </p:spPr>
        <p:txBody>
          <a:bodyPr/>
          <a:lstStyle/>
          <a:p>
            <a:endParaRPr lang="es-CO" sz="2800"/>
          </a:p>
        </p:txBody>
      </p:sp>
      <p:sp>
        <p:nvSpPr>
          <p:cNvPr id="14" name="Text 11"/>
          <p:cNvSpPr/>
          <p:nvPr/>
        </p:nvSpPr>
        <p:spPr>
          <a:xfrm>
            <a:off x="777240" y="3465576"/>
            <a:ext cx="6309360" cy="310896"/>
          </a:xfrm>
          <a:prstGeom prst="rect">
            <a:avLst/>
          </a:prstGeom>
          <a:noFill/>
          <a:ln/>
        </p:spPr>
        <p:txBody>
          <a:bodyPr wrap="square" lIns="0" tIns="0" rIns="0" bIns="0" rtlCol="0" anchor="ctr"/>
          <a:lstStyle/>
          <a:p>
            <a:pPr marL="0" indent="0">
              <a:buNone/>
            </a:pPr>
            <a:r>
              <a:rPr lang="en-US" sz="2000" b="1" dirty="0">
                <a:solidFill>
                  <a:srgbClr val="2F6690"/>
                </a:solidFill>
                <a:latin typeface="Courier New" pitchFamily="34" charset="0"/>
                <a:ea typeface="Courier New" pitchFamily="34" charset="-122"/>
                <a:cs typeface="Courier New" pitchFamily="34" charset="-120"/>
              </a:rPr>
              <a:t>cumplimiento…2007_2023.csv</a:t>
            </a:r>
            <a:endParaRPr lang="en-US" sz="2000" dirty="0"/>
          </a:p>
        </p:txBody>
      </p:sp>
      <p:sp>
        <p:nvSpPr>
          <p:cNvPr id="15" name="Text 12"/>
          <p:cNvSpPr/>
          <p:nvPr/>
        </p:nvSpPr>
        <p:spPr>
          <a:xfrm>
            <a:off x="777240" y="3767328"/>
            <a:ext cx="6309360" cy="274320"/>
          </a:xfrm>
          <a:prstGeom prst="rect">
            <a:avLst/>
          </a:prstGeom>
          <a:noFill/>
          <a:ln/>
        </p:spPr>
        <p:txBody>
          <a:bodyPr wrap="square" lIns="0" tIns="0" rIns="0" bIns="0" rtlCol="0" anchor="ctr"/>
          <a:lstStyle/>
          <a:p>
            <a:pPr marL="0" indent="0">
              <a:buNone/>
            </a:pPr>
            <a:r>
              <a:rPr lang="en-US" sz="1600" dirty="0">
                <a:solidFill>
                  <a:srgbClr val="5B7180"/>
                </a:solidFill>
                <a:latin typeface="Calibri" pitchFamily="34" charset="0"/>
                <a:ea typeface="Calibri" pitchFamily="34" charset="-122"/>
                <a:cs typeface="Calibri" pitchFamily="34" charset="-120"/>
              </a:rPr>
              <a:t>Dataset original.</a:t>
            </a:r>
            <a:endParaRPr lang="en-US" sz="1600" dirty="0"/>
          </a:p>
        </p:txBody>
      </p:sp>
      <p:sp>
        <p:nvSpPr>
          <p:cNvPr id="16" name="Shape 13"/>
          <p:cNvSpPr/>
          <p:nvPr/>
        </p:nvSpPr>
        <p:spPr>
          <a:xfrm>
            <a:off x="548640" y="4233672"/>
            <a:ext cx="6675120" cy="749808"/>
          </a:xfrm>
          <a:prstGeom prst="roundRect">
            <a:avLst>
              <a:gd name="adj" fmla="val 7317"/>
            </a:avLst>
          </a:prstGeom>
          <a:solidFill>
            <a:srgbClr val="F2F6F8"/>
          </a:solidFill>
          <a:ln/>
        </p:spPr>
        <p:txBody>
          <a:bodyPr/>
          <a:lstStyle/>
          <a:p>
            <a:endParaRPr lang="es-CO"/>
          </a:p>
        </p:txBody>
      </p:sp>
      <p:sp>
        <p:nvSpPr>
          <p:cNvPr id="17" name="Text 14"/>
          <p:cNvSpPr/>
          <p:nvPr/>
        </p:nvSpPr>
        <p:spPr>
          <a:xfrm>
            <a:off x="777240" y="4352544"/>
            <a:ext cx="6309360" cy="310896"/>
          </a:xfrm>
          <a:prstGeom prst="rect">
            <a:avLst/>
          </a:prstGeom>
          <a:noFill/>
          <a:ln/>
        </p:spPr>
        <p:txBody>
          <a:bodyPr wrap="square" lIns="0" tIns="0" rIns="0" bIns="0" rtlCol="0" anchor="ctr"/>
          <a:lstStyle/>
          <a:p>
            <a:pPr marL="0" indent="0">
              <a:buNone/>
            </a:pPr>
            <a:r>
              <a:rPr lang="en-US" sz="2000" b="1" dirty="0">
                <a:solidFill>
                  <a:srgbClr val="2F6690"/>
                </a:solidFill>
                <a:latin typeface="Courier New" pitchFamily="34" charset="0"/>
                <a:ea typeface="Courier New" pitchFamily="34" charset="-122"/>
                <a:cs typeface="Courier New" pitchFamily="34" charset="-120"/>
              </a:rPr>
              <a:t>…2007_2023_enriched.csv</a:t>
            </a:r>
            <a:endParaRPr lang="en-US" sz="2000" dirty="0"/>
          </a:p>
        </p:txBody>
      </p:sp>
      <p:sp>
        <p:nvSpPr>
          <p:cNvPr id="18" name="Text 15"/>
          <p:cNvSpPr/>
          <p:nvPr/>
        </p:nvSpPr>
        <p:spPr>
          <a:xfrm>
            <a:off x="777240" y="4654296"/>
            <a:ext cx="6309360" cy="274320"/>
          </a:xfrm>
          <a:prstGeom prst="rect">
            <a:avLst/>
          </a:prstGeom>
          <a:noFill/>
          <a:ln/>
        </p:spPr>
        <p:txBody>
          <a:bodyPr wrap="square" lIns="0" tIns="0" rIns="0" bIns="0" rtlCol="0" anchor="ctr"/>
          <a:lstStyle/>
          <a:p>
            <a:pPr marL="0" indent="0">
              <a:buNone/>
            </a:pPr>
            <a:r>
              <a:rPr lang="en-US" sz="1600" dirty="0">
                <a:solidFill>
                  <a:srgbClr val="5B7180"/>
                </a:solidFill>
                <a:latin typeface="Calibri" pitchFamily="34" charset="0"/>
                <a:ea typeface="Calibri" pitchFamily="34" charset="-122"/>
                <a:cs typeface="Calibri" pitchFamily="34" charset="-120"/>
              </a:rPr>
              <a:t>Dataset enriquecido (salida).</a:t>
            </a:r>
            <a:endParaRPr lang="en-US" sz="1600" dirty="0"/>
          </a:p>
        </p:txBody>
      </p:sp>
      <p:sp>
        <p:nvSpPr>
          <p:cNvPr id="19" name="Shape 16"/>
          <p:cNvSpPr/>
          <p:nvPr/>
        </p:nvSpPr>
        <p:spPr>
          <a:xfrm>
            <a:off x="548640" y="5148072"/>
            <a:ext cx="6675120" cy="749808"/>
          </a:xfrm>
          <a:prstGeom prst="roundRect">
            <a:avLst>
              <a:gd name="adj" fmla="val 7317"/>
            </a:avLst>
          </a:prstGeom>
          <a:solidFill>
            <a:srgbClr val="F2F6F8"/>
          </a:solidFill>
          <a:ln/>
        </p:spPr>
        <p:txBody>
          <a:bodyPr/>
          <a:lstStyle/>
          <a:p>
            <a:endParaRPr lang="es-CO"/>
          </a:p>
        </p:txBody>
      </p:sp>
      <p:sp>
        <p:nvSpPr>
          <p:cNvPr id="20" name="Text 17"/>
          <p:cNvSpPr/>
          <p:nvPr/>
        </p:nvSpPr>
        <p:spPr>
          <a:xfrm>
            <a:off x="777240" y="5239512"/>
            <a:ext cx="6309360" cy="310896"/>
          </a:xfrm>
          <a:prstGeom prst="rect">
            <a:avLst/>
          </a:prstGeom>
          <a:noFill/>
          <a:ln/>
        </p:spPr>
        <p:txBody>
          <a:bodyPr wrap="square" lIns="0" tIns="0" rIns="0" bIns="0" rtlCol="0" anchor="ctr"/>
          <a:lstStyle/>
          <a:p>
            <a:pPr marL="0" indent="0">
              <a:buNone/>
            </a:pPr>
            <a:r>
              <a:rPr lang="en-US" sz="2000" b="1" dirty="0">
                <a:solidFill>
                  <a:srgbClr val="2F6690"/>
                </a:solidFill>
                <a:latin typeface="Courier New" pitchFamily="34" charset="0"/>
                <a:ea typeface="Courier New" pitchFamily="34" charset="-122"/>
                <a:cs typeface="Courier New" pitchFamily="34" charset="-120"/>
              </a:rPr>
              <a:t>INFORME</a:t>
            </a:r>
            <a:endParaRPr lang="en-US" sz="2000" dirty="0"/>
          </a:p>
        </p:txBody>
      </p:sp>
      <p:sp>
        <p:nvSpPr>
          <p:cNvPr id="21" name="Text 18"/>
          <p:cNvSpPr/>
          <p:nvPr/>
        </p:nvSpPr>
        <p:spPr>
          <a:xfrm>
            <a:off x="777240" y="5541264"/>
            <a:ext cx="6309360" cy="274320"/>
          </a:xfrm>
          <a:prstGeom prst="rect">
            <a:avLst/>
          </a:prstGeom>
          <a:noFill/>
          <a:ln/>
        </p:spPr>
        <p:txBody>
          <a:bodyPr wrap="square" lIns="0" tIns="0" rIns="0" bIns="0" rtlCol="0" anchor="ctr"/>
          <a:lstStyle/>
          <a:p>
            <a:pPr marL="0" indent="0">
              <a:buNone/>
            </a:pPr>
            <a:r>
              <a:rPr lang="en-US" sz="1600" dirty="0">
                <a:solidFill>
                  <a:srgbClr val="5B7180"/>
                </a:solidFill>
                <a:latin typeface="Calibri" pitchFamily="34" charset="0"/>
                <a:ea typeface="Calibri" pitchFamily="34" charset="-122"/>
                <a:cs typeface="Calibri" pitchFamily="34" charset="-120"/>
              </a:rPr>
              <a:t>Documento del proyecto.</a:t>
            </a:r>
            <a:endParaRPr lang="en-US" sz="1600" dirty="0"/>
          </a:p>
        </p:txBody>
      </p:sp>
      <p:sp>
        <p:nvSpPr>
          <p:cNvPr id="22" name="Shape 19"/>
          <p:cNvSpPr/>
          <p:nvPr/>
        </p:nvSpPr>
        <p:spPr>
          <a:xfrm>
            <a:off x="7642860" y="1150736"/>
            <a:ext cx="3771900" cy="1752936"/>
          </a:xfrm>
          <a:prstGeom prst="roundRect">
            <a:avLst>
              <a:gd name="adj" fmla="val 2500"/>
            </a:avLst>
          </a:prstGeom>
          <a:solidFill>
            <a:srgbClr val="0F2D43"/>
          </a:solidFill>
          <a:ln/>
          <a:effectLst>
            <a:outerShdw blurRad="88900" dist="38100" dir="5400000" algn="bl" rotWithShape="0">
              <a:srgbClr val="000000">
                <a:alpha val="13000"/>
              </a:srgbClr>
            </a:outerShdw>
          </a:effectLst>
        </p:spPr>
        <p:txBody>
          <a:bodyPr/>
          <a:lstStyle/>
          <a:p>
            <a:endParaRPr lang="es-CO" dirty="0"/>
          </a:p>
        </p:txBody>
      </p:sp>
      <p:sp>
        <p:nvSpPr>
          <p:cNvPr id="23" name="Text 20"/>
          <p:cNvSpPr/>
          <p:nvPr/>
        </p:nvSpPr>
        <p:spPr>
          <a:xfrm>
            <a:off x="7842574" y="1387496"/>
            <a:ext cx="3474720" cy="3657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Constantes globales</a:t>
            </a:r>
            <a:endParaRPr lang="en-US" sz="2400" dirty="0"/>
          </a:p>
        </p:txBody>
      </p:sp>
      <p:sp>
        <p:nvSpPr>
          <p:cNvPr id="24" name="Text 21"/>
          <p:cNvSpPr/>
          <p:nvPr/>
        </p:nvSpPr>
        <p:spPr>
          <a:xfrm>
            <a:off x="7842574" y="1773936"/>
            <a:ext cx="3520440" cy="914400"/>
          </a:xfrm>
          <a:prstGeom prst="rect">
            <a:avLst/>
          </a:prstGeom>
          <a:noFill/>
          <a:ln/>
        </p:spPr>
        <p:txBody>
          <a:bodyPr wrap="square" lIns="0" tIns="0" rIns="0" bIns="0" rtlCol="0" anchor="t"/>
          <a:lstStyle/>
          <a:p>
            <a:pPr marL="0" indent="0">
              <a:buNone/>
            </a:pPr>
            <a:r>
              <a:rPr lang="en-US" dirty="0">
                <a:solidFill>
                  <a:srgbClr val="C9DEE8"/>
                </a:solidFill>
                <a:latin typeface="Calibri" pitchFamily="34" charset="0"/>
                <a:ea typeface="Calibri" pitchFamily="34" charset="-122"/>
                <a:cs typeface="Calibri" pitchFamily="34" charset="-120"/>
              </a:rPr>
              <a:t>En business_logic.py se guardan los nombres de las columnas en </a:t>
            </a:r>
            <a:r>
              <a:rPr lang="en-US" dirty="0" err="1">
                <a:solidFill>
                  <a:srgbClr val="C9DEE8"/>
                </a:solidFill>
                <a:latin typeface="Calibri" pitchFamily="34" charset="0"/>
                <a:ea typeface="Calibri" pitchFamily="34" charset="-122"/>
                <a:cs typeface="Calibri" pitchFamily="34" charset="-120"/>
              </a:rPr>
              <a:t>constantes</a:t>
            </a:r>
            <a:r>
              <a:rPr lang="en-US" dirty="0">
                <a:solidFill>
                  <a:srgbClr val="C9DEE8"/>
                </a:solidFill>
                <a:latin typeface="Calibri" pitchFamily="34" charset="0"/>
                <a:ea typeface="Calibri" pitchFamily="34" charset="-122"/>
                <a:cs typeface="Calibri" pitchFamily="34" charset="-120"/>
              </a:rPr>
              <a:t>.</a:t>
            </a:r>
          </a:p>
          <a:p>
            <a:pPr marL="0" indent="0">
              <a:buNone/>
            </a:pPr>
            <a:endParaRPr lang="en-US" dirty="0"/>
          </a:p>
        </p:txBody>
      </p:sp>
      <p:sp>
        <p:nvSpPr>
          <p:cNvPr id="25" name="Text 22"/>
          <p:cNvSpPr/>
          <p:nvPr/>
        </p:nvSpPr>
        <p:spPr>
          <a:xfrm>
            <a:off x="7842574" y="3246120"/>
            <a:ext cx="3520440" cy="1280160"/>
          </a:xfrm>
          <a:prstGeom prst="rect">
            <a:avLst/>
          </a:prstGeom>
          <a:noFill/>
          <a:ln/>
        </p:spPr>
        <p:txBody>
          <a:bodyPr wrap="square" lIns="0" tIns="0" rIns="0" bIns="0" rtlCol="0" anchor="t"/>
          <a:lstStyle/>
          <a:p>
            <a:pPr marL="0" indent="0">
              <a:buNone/>
            </a:pPr>
            <a:endParaRPr lang="en-US" i="1" dirty="0">
              <a:solidFill>
                <a:srgbClr val="9FC2D1"/>
              </a:solidFill>
              <a:latin typeface="Calibri" pitchFamily="34" charset="0"/>
              <a:ea typeface="Calibri" pitchFamily="34" charset="-122"/>
              <a:cs typeface="Calibri" pitchFamily="34" charset="-120"/>
            </a:endParaRPr>
          </a:p>
          <a:p>
            <a:pPr marL="0" indent="0">
              <a:buNone/>
            </a:pPr>
            <a:r>
              <a:rPr lang="en-US" i="1" dirty="0">
                <a:solidFill>
                  <a:srgbClr val="9FC2D1"/>
                </a:solidFill>
                <a:latin typeface="Calibri" pitchFamily="34" charset="0"/>
                <a:ea typeface="Calibri" pitchFamily="34" charset="-122"/>
                <a:cs typeface="Calibri" pitchFamily="34" charset="-120"/>
              </a:rPr>
              <a:t>Si cambia el nombre de una columna en el dataset, se corrige una sola vez aquí y el cambio se refleja en todo el código.</a:t>
            </a:r>
            <a:endParaRPr lang="en-US" dirty="0"/>
          </a:p>
        </p:txBody>
      </p:sp>
      <p:sp>
        <p:nvSpPr>
          <p:cNvPr id="26" name="Shape 11">
            <a:extLst>
              <a:ext uri="{FF2B5EF4-FFF2-40B4-BE49-F238E27FC236}">
                <a16:creationId xmlns:a16="http://schemas.microsoft.com/office/drawing/2014/main" id="{CD2068AA-097A-F0AF-473C-A22992AC4C48}"/>
              </a:ext>
            </a:extLst>
          </p:cNvPr>
          <p:cNvSpPr/>
          <p:nvPr/>
        </p:nvSpPr>
        <p:spPr>
          <a:xfrm>
            <a:off x="7437120" y="3317783"/>
            <a:ext cx="4358639" cy="3319272"/>
          </a:xfrm>
          <a:prstGeom prst="roundRect">
            <a:avLst>
              <a:gd name="adj" fmla="val 24190"/>
            </a:avLst>
          </a:prstGeom>
          <a:solidFill>
            <a:srgbClr val="0F2D43"/>
          </a:solidFill>
          <a:ln/>
          <a:effectLst>
            <a:outerShdw blurRad="88900" dist="38100" dir="5400000" algn="bl" rotWithShape="0">
              <a:srgbClr val="000000">
                <a:alpha val="13000"/>
              </a:srgbClr>
            </a:outerShdw>
          </a:effectLst>
        </p:spPr>
        <p:txBody>
          <a:bodyPr/>
          <a:lstStyle/>
          <a:p>
            <a:endParaRPr lang="es-CO" dirty="0"/>
          </a:p>
        </p:txBody>
      </p:sp>
      <p:sp>
        <p:nvSpPr>
          <p:cNvPr id="28" name="Text 12">
            <a:extLst>
              <a:ext uri="{FF2B5EF4-FFF2-40B4-BE49-F238E27FC236}">
                <a16:creationId xmlns:a16="http://schemas.microsoft.com/office/drawing/2014/main" id="{22B7C215-ACA1-D251-E714-70A643D1F39F}"/>
              </a:ext>
            </a:extLst>
          </p:cNvPr>
          <p:cNvSpPr/>
          <p:nvPr/>
        </p:nvSpPr>
        <p:spPr>
          <a:xfrm>
            <a:off x="7478233" y="4002680"/>
            <a:ext cx="4119407" cy="640080"/>
          </a:xfrm>
          <a:prstGeom prst="rect">
            <a:avLst/>
          </a:prstGeom>
          <a:noFill/>
          <a:ln/>
        </p:spPr>
        <p:txBody>
          <a:bodyPr wrap="square" lIns="0" tIns="0" rIns="0" bIns="0" rtlCol="0" anchor="t"/>
          <a:lstStyle/>
          <a:p>
            <a:pPr marL="0" indent="0" algn="ctr">
              <a:buNone/>
            </a:pPr>
            <a:r>
              <a:rPr lang="en-US" b="1" i="1" dirty="0">
                <a:solidFill>
                  <a:schemeClr val="bg1"/>
                </a:solidFill>
                <a:latin typeface="Calibri" pitchFamily="34" charset="0"/>
                <a:ea typeface="Calibri" pitchFamily="34" charset="-122"/>
                <a:cs typeface="Calibri" pitchFamily="34" charset="-120"/>
              </a:rPr>
              <a:t>GESTIÓN DE INFORMACIÓN</a:t>
            </a:r>
            <a:endParaRPr lang="en-US" b="1" dirty="0">
              <a:solidFill>
                <a:schemeClr val="bg1"/>
              </a:solidFill>
            </a:endParaRPr>
          </a:p>
        </p:txBody>
      </p:sp>
      <p:sp>
        <p:nvSpPr>
          <p:cNvPr id="30" name="Text 15">
            <a:extLst>
              <a:ext uri="{FF2B5EF4-FFF2-40B4-BE49-F238E27FC236}">
                <a16:creationId xmlns:a16="http://schemas.microsoft.com/office/drawing/2014/main" id="{F253B5D6-FA59-E79D-9D2F-83799101586F}"/>
              </a:ext>
            </a:extLst>
          </p:cNvPr>
          <p:cNvSpPr/>
          <p:nvPr/>
        </p:nvSpPr>
        <p:spPr>
          <a:xfrm>
            <a:off x="7650480" y="4417243"/>
            <a:ext cx="4297680" cy="5943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¿Cuántos predios morosos hay por estrato?</a:t>
            </a:r>
            <a:endParaRPr lang="en-US" dirty="0"/>
          </a:p>
        </p:txBody>
      </p:sp>
      <p:sp>
        <p:nvSpPr>
          <p:cNvPr id="32" name="Text 18">
            <a:extLst>
              <a:ext uri="{FF2B5EF4-FFF2-40B4-BE49-F238E27FC236}">
                <a16:creationId xmlns:a16="http://schemas.microsoft.com/office/drawing/2014/main" id="{75C241F2-BAB8-503E-450F-E71E8B2AE893}"/>
              </a:ext>
            </a:extLst>
          </p:cNvPr>
          <p:cNvSpPr/>
          <p:nvPr/>
        </p:nvSpPr>
        <p:spPr>
          <a:xfrm>
            <a:off x="7589519" y="4983799"/>
            <a:ext cx="4297680" cy="5943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¿De qué barrios se recauda más dinero?</a:t>
            </a:r>
            <a:endParaRPr lang="en-US" dirty="0"/>
          </a:p>
        </p:txBody>
      </p:sp>
      <p:sp>
        <p:nvSpPr>
          <p:cNvPr id="34" name="Text 21">
            <a:extLst>
              <a:ext uri="{FF2B5EF4-FFF2-40B4-BE49-F238E27FC236}">
                <a16:creationId xmlns:a16="http://schemas.microsoft.com/office/drawing/2014/main" id="{58E4470A-D192-1C21-241F-CD7523B1B0E7}"/>
              </a:ext>
            </a:extLst>
          </p:cNvPr>
          <p:cNvSpPr/>
          <p:nvPr/>
        </p:nvSpPr>
        <p:spPr>
          <a:xfrm>
            <a:off x="7650480" y="5434193"/>
            <a:ext cx="4297680" cy="5943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¿Cuánto se ha recaudado por año?</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2F6690"/>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Carga, imputación y copia defensiva</a:t>
            </a:r>
            <a:endParaRPr lang="en-US" sz="3000" dirty="0"/>
          </a:p>
        </p:txBody>
      </p:sp>
      <p:sp>
        <p:nvSpPr>
          <p:cNvPr id="6" name="Text 3"/>
          <p:cNvSpPr/>
          <p:nvPr/>
        </p:nvSpPr>
        <p:spPr>
          <a:xfrm>
            <a:off x="9326880" y="530352"/>
            <a:ext cx="2286000" cy="420624"/>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LUIS</a:t>
            </a:r>
            <a:endParaRPr lang="en-US" sz="1250" dirty="0"/>
          </a:p>
        </p:txBody>
      </p:sp>
      <p:sp>
        <p:nvSpPr>
          <p:cNvPr id="7" name="Shape 4"/>
          <p:cNvSpPr/>
          <p:nvPr/>
        </p:nvSpPr>
        <p:spPr>
          <a:xfrm>
            <a:off x="548640" y="1600200"/>
            <a:ext cx="5486400" cy="2057400"/>
          </a:xfrm>
          <a:prstGeom prst="roundRect">
            <a:avLst>
              <a:gd name="adj" fmla="val 3556"/>
            </a:avLst>
          </a:prstGeom>
          <a:solidFill>
            <a:srgbClr val="F2F6F8"/>
          </a:solidFill>
          <a:ln/>
          <a:effectLst>
            <a:outerShdw blurRad="88900" dist="38100" dir="5400000" algn="bl" rotWithShape="0">
              <a:srgbClr val="000000">
                <a:alpha val="13000"/>
              </a:srgbClr>
            </a:outerShdw>
          </a:effectLst>
        </p:spPr>
        <p:txBody>
          <a:bodyPr/>
          <a:lstStyle/>
          <a:p>
            <a:endParaRPr lang="es-CO" sz="2000"/>
          </a:p>
        </p:txBody>
      </p:sp>
      <p:sp>
        <p:nvSpPr>
          <p:cNvPr id="8" name="Text 5"/>
          <p:cNvSpPr/>
          <p:nvPr/>
        </p:nvSpPr>
        <p:spPr>
          <a:xfrm>
            <a:off x="777240" y="1764792"/>
            <a:ext cx="5029200" cy="365760"/>
          </a:xfrm>
          <a:prstGeom prst="rect">
            <a:avLst/>
          </a:prstGeom>
          <a:noFill/>
          <a:ln/>
        </p:spPr>
        <p:txBody>
          <a:bodyPr wrap="square" lIns="0" tIns="0" rIns="0" bIns="0" rtlCol="0" anchor="ctr"/>
          <a:lstStyle/>
          <a:p>
            <a:pPr marL="0" indent="0">
              <a:buNone/>
            </a:pPr>
            <a:r>
              <a:rPr lang="en-US" b="1" dirty="0">
                <a:solidFill>
                  <a:srgbClr val="2F6690"/>
                </a:solidFill>
                <a:latin typeface="Cambria" pitchFamily="34" charset="0"/>
                <a:ea typeface="Cambria" pitchFamily="34" charset="-122"/>
                <a:cs typeface="Cambria" pitchFamily="34" charset="-120"/>
              </a:rPr>
              <a:t>load_taxes_data()</a:t>
            </a:r>
            <a:endParaRPr lang="en-US" dirty="0"/>
          </a:p>
        </p:txBody>
      </p:sp>
      <p:sp>
        <p:nvSpPr>
          <p:cNvPr id="9" name="Text 6"/>
          <p:cNvSpPr/>
          <p:nvPr/>
        </p:nvSpPr>
        <p:spPr>
          <a:xfrm>
            <a:off x="777240" y="2167128"/>
            <a:ext cx="5029200" cy="132588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Imputa los valores faltantes:</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Numéricas → media</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Categóricas → moda</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Códigos de localidad y UPZ = 0 → moda de los válidos</a:t>
            </a:r>
            <a:endParaRPr lang="en-US" sz="1600" dirty="0"/>
          </a:p>
        </p:txBody>
      </p:sp>
      <p:sp>
        <p:nvSpPr>
          <p:cNvPr id="10" name="Shape 7"/>
          <p:cNvSpPr/>
          <p:nvPr/>
        </p:nvSpPr>
        <p:spPr>
          <a:xfrm>
            <a:off x="548640" y="3840480"/>
            <a:ext cx="5486400" cy="2286000"/>
          </a:xfrm>
          <a:prstGeom prst="roundRect">
            <a:avLst>
              <a:gd name="adj" fmla="val 3200"/>
            </a:avLst>
          </a:prstGeom>
          <a:solidFill>
            <a:srgbClr val="F2F6F8"/>
          </a:solidFill>
          <a:ln/>
          <a:effectLst>
            <a:outerShdw blurRad="88900" dist="38100" dir="5400000" algn="bl" rotWithShape="0">
              <a:srgbClr val="000000">
                <a:alpha val="13000"/>
              </a:srgbClr>
            </a:outerShdw>
          </a:effectLst>
        </p:spPr>
        <p:txBody>
          <a:bodyPr/>
          <a:lstStyle/>
          <a:p>
            <a:endParaRPr lang="es-CO" sz="2000"/>
          </a:p>
        </p:txBody>
      </p:sp>
      <p:sp>
        <p:nvSpPr>
          <p:cNvPr id="11" name="Text 8"/>
          <p:cNvSpPr/>
          <p:nvPr/>
        </p:nvSpPr>
        <p:spPr>
          <a:xfrm>
            <a:off x="777240" y="4005072"/>
            <a:ext cx="5029200" cy="365760"/>
          </a:xfrm>
          <a:prstGeom prst="rect">
            <a:avLst/>
          </a:prstGeom>
          <a:noFill/>
          <a:ln/>
        </p:spPr>
        <p:txBody>
          <a:bodyPr wrap="square" lIns="0" tIns="0" rIns="0" bIns="0" rtlCol="0" anchor="ctr"/>
          <a:lstStyle/>
          <a:p>
            <a:pPr marL="0" indent="0">
              <a:buNone/>
            </a:pPr>
            <a:r>
              <a:rPr lang="en-US" b="1" dirty="0">
                <a:solidFill>
                  <a:srgbClr val="2F6690"/>
                </a:solidFill>
                <a:latin typeface="Cambria" pitchFamily="34" charset="0"/>
                <a:ea typeface="Cambria" pitchFamily="34" charset="-122"/>
                <a:cs typeface="Cambria" pitchFamily="34" charset="-120"/>
              </a:rPr>
              <a:t>new_columns()</a:t>
            </a:r>
            <a:endParaRPr lang="en-US" dirty="0"/>
          </a:p>
        </p:txBody>
      </p:sp>
      <p:sp>
        <p:nvSpPr>
          <p:cNvPr id="12" name="Text 9"/>
          <p:cNvSpPr/>
          <p:nvPr/>
        </p:nvSpPr>
        <p:spPr>
          <a:xfrm>
            <a:off x="777240" y="4407408"/>
            <a:ext cx="5029200" cy="1554480"/>
          </a:xfrm>
          <a:prstGeom prst="rect">
            <a:avLst/>
          </a:prstGeom>
          <a:noFill/>
          <a:ln/>
        </p:spPr>
        <p:txBody>
          <a:bodyPr wrap="square" lIns="0" tIns="0" rIns="0" bIns="0" rtlCol="0" anchor="t"/>
          <a:lstStyle/>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Trabaja sobre una copia defensiva: el original nunca se modifica.</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Si falta una columna, captura el KeyError y devuelve None.</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Quien la llama detecta el None y detiene el proceso de forma controlada.</a:t>
            </a:r>
            <a:endParaRPr lang="en-US" sz="1600" dirty="0"/>
          </a:p>
        </p:txBody>
      </p:sp>
      <p:sp>
        <p:nvSpPr>
          <p:cNvPr id="13" name="Shape 10"/>
          <p:cNvSpPr/>
          <p:nvPr/>
        </p:nvSpPr>
        <p:spPr>
          <a:xfrm>
            <a:off x="6309360" y="1600200"/>
            <a:ext cx="5303520" cy="2057400"/>
          </a:xfrm>
          <a:prstGeom prst="roundRect">
            <a:avLst>
              <a:gd name="adj" fmla="val 2667"/>
            </a:avLst>
          </a:prstGeom>
          <a:solidFill>
            <a:srgbClr val="0F2D43"/>
          </a:solidFill>
          <a:ln/>
          <a:effectLst>
            <a:outerShdw blurRad="88900" dist="38100" dir="5400000" algn="bl" rotWithShape="0">
              <a:srgbClr val="000000">
                <a:alpha val="13000"/>
              </a:srgbClr>
            </a:outerShdw>
          </a:effectLst>
        </p:spPr>
        <p:txBody>
          <a:bodyPr/>
          <a:lstStyle/>
          <a:p>
            <a:endParaRPr lang="es-CO" sz="2000"/>
          </a:p>
        </p:txBody>
      </p:sp>
      <p:sp>
        <p:nvSpPr>
          <p:cNvPr id="14" name="Text 11"/>
          <p:cNvSpPr/>
          <p:nvPr/>
        </p:nvSpPr>
        <p:spPr>
          <a:xfrm>
            <a:off x="6372301" y="1746504"/>
            <a:ext cx="5376672" cy="1764792"/>
          </a:xfrm>
          <a:prstGeom prst="rect">
            <a:avLst/>
          </a:prstGeom>
          <a:noFill/>
          <a:ln/>
        </p:spPr>
        <p:txBody>
          <a:bodyPr wrap="square" lIns="0" tIns="0" rIns="0" bIns="0" rtlCol="0" anchor="t"/>
          <a:lstStyle/>
          <a:p>
            <a:pPr marL="0" indent="0" algn="l">
              <a:buNone/>
            </a:pPr>
            <a:r>
              <a:rPr lang="en-US" sz="1600" dirty="0">
                <a:solidFill>
                  <a:srgbClr val="BFE3EF"/>
                </a:solidFill>
                <a:latin typeface="Courier New" pitchFamily="34" charset="0"/>
                <a:ea typeface="Courier New" pitchFamily="34" charset="-122"/>
                <a:cs typeface="Courier New" pitchFamily="34" charset="-120"/>
              </a:rPr>
              <a:t>df = dataframe.copy()   # copia defensiva</a:t>
            </a:r>
            <a:endParaRPr lang="en-US" sz="1600" dirty="0"/>
          </a:p>
          <a:p>
            <a:pPr marL="0" indent="0" algn="l">
              <a:buNone/>
            </a:pPr>
            <a:r>
              <a:rPr lang="en-US" sz="1600" dirty="0">
                <a:solidFill>
                  <a:srgbClr val="BFE3EF"/>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BFE3EF"/>
                </a:solidFill>
                <a:latin typeface="Courier New" pitchFamily="34" charset="0"/>
                <a:ea typeface="Courier New" pitchFamily="34" charset="-122"/>
                <a:cs typeface="Courier New" pitchFamily="34" charset="-120"/>
              </a:rPr>
              <a:t>try:</a:t>
            </a:r>
            <a:endParaRPr lang="en-US" sz="1600" dirty="0"/>
          </a:p>
          <a:p>
            <a:pPr marL="0" indent="0" algn="l">
              <a:buNone/>
            </a:pPr>
            <a:r>
              <a:rPr lang="en-US" sz="1600" dirty="0">
                <a:solidFill>
                  <a:srgbClr val="7FA8B8"/>
                </a:solidFill>
                <a:latin typeface="Courier New" pitchFamily="34" charset="0"/>
                <a:ea typeface="Courier New" pitchFamily="34" charset="-122"/>
                <a:cs typeface="Courier New" pitchFamily="34" charset="-120"/>
              </a:rPr>
              <a:t>    # ... crear columnas derivadas</a:t>
            </a:r>
            <a:endParaRPr lang="en-US" sz="1600" dirty="0"/>
          </a:p>
          <a:p>
            <a:pPr marL="0" indent="0" algn="l">
              <a:buNone/>
            </a:pPr>
            <a:r>
              <a:rPr lang="en-US" sz="1600" dirty="0">
                <a:solidFill>
                  <a:srgbClr val="BFE3EF"/>
                </a:solidFill>
                <a:latin typeface="Courier New" pitchFamily="34" charset="0"/>
                <a:ea typeface="Courier New" pitchFamily="34" charset="-122"/>
                <a:cs typeface="Courier New" pitchFamily="34" charset="-120"/>
              </a:rPr>
              <a:t>except KeyError:</a:t>
            </a:r>
            <a:endParaRPr lang="en-US" sz="1600" dirty="0"/>
          </a:p>
          <a:p>
            <a:pPr marL="0" indent="0" algn="l">
              <a:buNone/>
            </a:pPr>
            <a:r>
              <a:rPr lang="en-US" sz="1600" dirty="0">
                <a:solidFill>
                  <a:srgbClr val="BFE3EF"/>
                </a:solidFill>
                <a:latin typeface="Courier New" pitchFamily="34" charset="0"/>
                <a:ea typeface="Courier New" pitchFamily="34" charset="-122"/>
                <a:cs typeface="Courier New" pitchFamily="34" charset="-120"/>
              </a:rPr>
              <a:t>    return None        # parada controlada</a:t>
            </a:r>
            <a:endParaRPr lang="en-US" sz="1600" dirty="0"/>
          </a:p>
        </p:txBody>
      </p:sp>
      <p:sp>
        <p:nvSpPr>
          <p:cNvPr id="15" name="Shape 12"/>
          <p:cNvSpPr/>
          <p:nvPr/>
        </p:nvSpPr>
        <p:spPr>
          <a:xfrm>
            <a:off x="6309360" y="3840480"/>
            <a:ext cx="5303520" cy="2286000"/>
          </a:xfrm>
          <a:prstGeom prst="roundRect">
            <a:avLst>
              <a:gd name="adj" fmla="val 4000"/>
            </a:avLst>
          </a:prstGeom>
          <a:solidFill>
            <a:srgbClr val="F2F6F8"/>
          </a:solidFill>
          <a:ln/>
        </p:spPr>
        <p:txBody>
          <a:bodyPr/>
          <a:lstStyle/>
          <a:p>
            <a:endParaRPr lang="es-CO" sz="2000"/>
          </a:p>
        </p:txBody>
      </p:sp>
      <p:sp>
        <p:nvSpPr>
          <p:cNvPr id="16" name="Text 13"/>
          <p:cNvSpPr/>
          <p:nvPr/>
        </p:nvSpPr>
        <p:spPr>
          <a:xfrm>
            <a:off x="6583680" y="4023360"/>
            <a:ext cx="4754880" cy="365760"/>
          </a:xfrm>
          <a:prstGeom prst="rect">
            <a:avLst/>
          </a:prstGeom>
          <a:noFill/>
          <a:ln/>
        </p:spPr>
        <p:txBody>
          <a:bodyPr wrap="square" lIns="0" tIns="0" rIns="0" bIns="0" rtlCol="0" anchor="ctr"/>
          <a:lstStyle/>
          <a:p>
            <a:pPr marL="0" indent="0">
              <a:buNone/>
            </a:pPr>
            <a:r>
              <a:rPr lang="en-US" b="1" dirty="0">
                <a:solidFill>
                  <a:srgbClr val="1E293B"/>
                </a:solidFill>
                <a:latin typeface="Cambria" pitchFamily="34" charset="0"/>
                <a:ea typeface="Cambria" pitchFamily="34" charset="-122"/>
                <a:cs typeface="Cambria" pitchFamily="34" charset="-120"/>
              </a:rPr>
              <a:t>3 columnas derivadas</a:t>
            </a:r>
            <a:endParaRPr lang="en-US" dirty="0"/>
          </a:p>
        </p:txBody>
      </p:sp>
      <p:sp>
        <p:nvSpPr>
          <p:cNvPr id="17" name="Text 14"/>
          <p:cNvSpPr/>
          <p:nvPr/>
        </p:nvSpPr>
        <p:spPr>
          <a:xfrm>
            <a:off x="6583680" y="4480560"/>
            <a:ext cx="4754880" cy="1463040"/>
          </a:xfrm>
          <a:prstGeom prst="rect">
            <a:avLst/>
          </a:prstGeom>
          <a:noFill/>
          <a:ln/>
        </p:spPr>
        <p:txBody>
          <a:bodyPr wrap="square" lIns="0" tIns="0" rIns="0" bIns="0" rtlCol="0" anchor="ctr"/>
          <a:lstStyle/>
          <a:p>
            <a:pPr marL="0" indent="0">
              <a:lnSpc>
                <a:spcPct val="130000"/>
              </a:lnSpc>
              <a:buNone/>
            </a:pPr>
            <a:r>
              <a:rPr lang="en-US" b="1" dirty="0">
                <a:solidFill>
                  <a:srgbClr val="2F6690"/>
                </a:solidFill>
                <a:latin typeface="Courier New" pitchFamily="34" charset="0"/>
                <a:ea typeface="Courier New" pitchFamily="34" charset="-122"/>
                <a:cs typeface="Courier New" pitchFamily="34" charset="-120"/>
              </a:rPr>
              <a:t>MEDIA_POR_PREDIO</a:t>
            </a:r>
            <a:endParaRPr lang="en-US" dirty="0"/>
          </a:p>
          <a:p>
            <a:pPr marL="0" indent="0">
              <a:lnSpc>
                <a:spcPct val="130000"/>
              </a:lnSpc>
              <a:buNone/>
            </a:pPr>
            <a:r>
              <a:rPr lang="en-US" b="1" dirty="0">
                <a:solidFill>
                  <a:srgbClr val="2F6690"/>
                </a:solidFill>
                <a:latin typeface="Courier New" pitchFamily="34" charset="0"/>
                <a:ea typeface="Courier New" pitchFamily="34" charset="-122"/>
                <a:cs typeface="Courier New" pitchFamily="34" charset="-120"/>
              </a:rPr>
              <a:t>NOMBRE_SHD</a:t>
            </a:r>
            <a:endParaRPr lang="en-US" dirty="0"/>
          </a:p>
          <a:p>
            <a:pPr marL="0" indent="0">
              <a:lnSpc>
                <a:spcPct val="130000"/>
              </a:lnSpc>
              <a:buNone/>
            </a:pPr>
            <a:r>
              <a:rPr lang="en-US" b="1" dirty="0">
                <a:solidFill>
                  <a:srgbClr val="2F6690"/>
                </a:solidFill>
                <a:latin typeface="Courier New" pitchFamily="34" charset="0"/>
                <a:ea typeface="Courier New" pitchFamily="34" charset="-122"/>
                <a:cs typeface="Courier New" pitchFamily="34" charset="-120"/>
              </a:rPr>
              <a:t>RENTABILIDAD</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2F6690"/>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Columna 1 · MEDIA_POR_PREDIO</a:t>
            </a:r>
            <a:endParaRPr lang="en-US" sz="3000" dirty="0"/>
          </a:p>
        </p:txBody>
      </p:sp>
      <p:sp>
        <p:nvSpPr>
          <p:cNvPr id="6" name="Text 3"/>
          <p:cNvSpPr/>
          <p:nvPr/>
        </p:nvSpPr>
        <p:spPr>
          <a:xfrm>
            <a:off x="9326880" y="530352"/>
            <a:ext cx="2286000" cy="420624"/>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LUIS</a:t>
            </a:r>
            <a:endParaRPr lang="en-US" sz="1250" dirty="0"/>
          </a:p>
        </p:txBody>
      </p:sp>
      <p:sp>
        <p:nvSpPr>
          <p:cNvPr id="7" name="Text 4"/>
          <p:cNvSpPr/>
          <p:nvPr/>
        </p:nvSpPr>
        <p:spPr>
          <a:xfrm>
            <a:off x="548640" y="1508760"/>
            <a:ext cx="11064240" cy="548640"/>
          </a:xfrm>
          <a:prstGeom prst="rect">
            <a:avLst/>
          </a:prstGeom>
          <a:noFill/>
          <a:ln/>
        </p:spPr>
        <p:txBody>
          <a:bodyPr wrap="square" lIns="0" tIns="0" rIns="0" bIns="0" rtlCol="0" anchor="t"/>
          <a:lstStyle/>
          <a:p>
            <a:pPr marL="0" indent="0">
              <a:buNone/>
            </a:pPr>
            <a:r>
              <a:rPr lang="en-US" dirty="0">
                <a:solidFill>
                  <a:srgbClr val="1E293B"/>
                </a:solidFill>
                <a:latin typeface="Calibri" pitchFamily="34" charset="0"/>
                <a:ea typeface="Calibri" pitchFamily="34" charset="-122"/>
                <a:cs typeface="Calibri" pitchFamily="34" charset="-120"/>
              </a:rPr>
              <a:t>Mide el pago promedio por predio dentro de cada grupo, para poder comparar barrios y estratos.</a:t>
            </a:r>
            <a:endParaRPr lang="en-US" dirty="0"/>
          </a:p>
        </p:txBody>
      </p:sp>
      <p:sp>
        <p:nvSpPr>
          <p:cNvPr id="8" name="Shape 5"/>
          <p:cNvSpPr/>
          <p:nvPr/>
        </p:nvSpPr>
        <p:spPr>
          <a:xfrm>
            <a:off x="548640" y="2286000"/>
            <a:ext cx="5486400" cy="1371600"/>
          </a:xfrm>
          <a:prstGeom prst="roundRect">
            <a:avLst>
              <a:gd name="adj" fmla="val 4000"/>
            </a:avLst>
          </a:prstGeom>
          <a:solidFill>
            <a:srgbClr val="0F2D43"/>
          </a:solidFill>
          <a:ln/>
          <a:effectLst>
            <a:outerShdw blurRad="88900" dist="38100" dir="5400000" algn="bl" rotWithShape="0">
              <a:srgbClr val="000000">
                <a:alpha val="13000"/>
              </a:srgbClr>
            </a:outerShdw>
          </a:effectLst>
        </p:spPr>
        <p:txBody>
          <a:bodyPr/>
          <a:lstStyle/>
          <a:p>
            <a:endParaRPr lang="es-CO"/>
          </a:p>
        </p:txBody>
      </p:sp>
      <p:sp>
        <p:nvSpPr>
          <p:cNvPr id="9" name="Text 6"/>
          <p:cNvSpPr/>
          <p:nvPr/>
        </p:nvSpPr>
        <p:spPr>
          <a:xfrm>
            <a:off x="749808" y="2432304"/>
            <a:ext cx="5084064" cy="1078992"/>
          </a:xfrm>
          <a:prstGeom prst="rect">
            <a:avLst/>
          </a:prstGeom>
          <a:noFill/>
          <a:ln/>
        </p:spPr>
        <p:txBody>
          <a:bodyPr wrap="square" lIns="0" tIns="0" rIns="0" bIns="0" rtlCol="0" anchor="t"/>
          <a:lstStyle/>
          <a:p>
            <a:pPr marL="0" indent="0" algn="l">
              <a:buNone/>
            </a:pPr>
            <a:r>
              <a:rPr lang="en-US" sz="1600" dirty="0">
                <a:solidFill>
                  <a:srgbClr val="BFE3EF"/>
                </a:solidFill>
                <a:latin typeface="Courier New" pitchFamily="34" charset="0"/>
                <a:ea typeface="Courier New" pitchFamily="34" charset="-122"/>
                <a:cs typeface="Courier New" pitchFamily="34" charset="-120"/>
              </a:rPr>
              <a:t>df["MEDIA_POR_PREDIO"] = (</a:t>
            </a:r>
            <a:endParaRPr lang="en-US" sz="1600" dirty="0"/>
          </a:p>
          <a:p>
            <a:pPr marL="0" indent="0" algn="l">
              <a:buNone/>
            </a:pPr>
            <a:r>
              <a:rPr lang="en-US" sz="1600" dirty="0">
                <a:solidFill>
                  <a:srgbClr val="BFE3EF"/>
                </a:solidFill>
                <a:latin typeface="Courier New" pitchFamily="34" charset="0"/>
                <a:ea typeface="Courier New" pitchFamily="34" charset="-122"/>
                <a:cs typeface="Courier New" pitchFamily="34" charset="-120"/>
              </a:rPr>
              <a:t>    df.TOTAL_PAGADO / df.TOTAL_PREDIOS</a:t>
            </a:r>
            <a:endParaRPr lang="en-US" sz="1600" dirty="0"/>
          </a:p>
          <a:p>
            <a:pPr marL="0" indent="0" algn="l">
              <a:buNone/>
            </a:pPr>
            <a:r>
              <a:rPr lang="en-US" sz="1600" dirty="0">
                <a:solidFill>
                  <a:srgbClr val="BFE3EF"/>
                </a:solidFill>
                <a:latin typeface="Courier New" pitchFamily="34" charset="0"/>
                <a:ea typeface="Courier New" pitchFamily="34" charset="-122"/>
                <a:cs typeface="Courier New" pitchFamily="34" charset="-120"/>
              </a:rPr>
              <a:t>).round(2)</a:t>
            </a:r>
            <a:endParaRPr lang="en-US" sz="1600" dirty="0"/>
          </a:p>
        </p:txBody>
      </p:sp>
      <p:sp>
        <p:nvSpPr>
          <p:cNvPr id="10" name="Shape 7"/>
          <p:cNvSpPr/>
          <p:nvPr/>
        </p:nvSpPr>
        <p:spPr>
          <a:xfrm>
            <a:off x="548640" y="3886200"/>
            <a:ext cx="5486400" cy="2103120"/>
          </a:xfrm>
          <a:prstGeom prst="roundRect">
            <a:avLst>
              <a:gd name="adj" fmla="val 3478"/>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11" name="Text 8"/>
          <p:cNvSpPr/>
          <p:nvPr/>
        </p:nvSpPr>
        <p:spPr>
          <a:xfrm>
            <a:off x="777240" y="4050792"/>
            <a:ext cx="5029200" cy="365760"/>
          </a:xfrm>
          <a:prstGeom prst="rect">
            <a:avLst/>
          </a:prstGeom>
          <a:noFill/>
          <a:ln/>
        </p:spPr>
        <p:txBody>
          <a:bodyPr wrap="square" lIns="0" tIns="0" rIns="0" bIns="0" rtlCol="0" anchor="ctr"/>
          <a:lstStyle/>
          <a:p>
            <a:pPr marL="0" indent="0">
              <a:buNone/>
            </a:pPr>
            <a:r>
              <a:rPr lang="en-US" b="1" dirty="0">
                <a:solidFill>
                  <a:srgbClr val="2F6690"/>
                </a:solidFill>
                <a:latin typeface="Cambria" pitchFamily="34" charset="0"/>
                <a:ea typeface="Cambria" pitchFamily="34" charset="-122"/>
                <a:cs typeface="Cambria" pitchFamily="34" charset="-120"/>
              </a:rPr>
              <a:t>¿Por qué dividir?</a:t>
            </a:r>
            <a:endParaRPr lang="en-US" dirty="0"/>
          </a:p>
        </p:txBody>
      </p:sp>
      <p:sp>
        <p:nvSpPr>
          <p:cNvPr id="12" name="Text 9"/>
          <p:cNvSpPr/>
          <p:nvPr/>
        </p:nvSpPr>
        <p:spPr>
          <a:xfrm>
            <a:off x="777240" y="4453128"/>
            <a:ext cx="5029200" cy="137160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El total recaudado depende del tamaño del grupo, así que por sí solo no permite comparar.</a:t>
            </a:r>
            <a:endParaRPr lang="en-US" sz="1600" dirty="0"/>
          </a:p>
          <a:p>
            <a:pPr marL="0" indent="0">
              <a:buNone/>
            </a:pPr>
            <a:r>
              <a:rPr lang="en-US" sz="1600" dirty="0">
                <a:solidFill>
                  <a:srgbClr val="1E293B"/>
                </a:solidFill>
                <a:latin typeface="Calibri" pitchFamily="34" charset="0"/>
                <a:ea typeface="Calibri" pitchFamily="34" charset="-122"/>
                <a:cs typeface="Calibri" pitchFamily="34" charset="-120"/>
              </a:rPr>
              <a:t>Al dividir entre TOTAL_PREDIOS se obtiene un indicador comparable entre territorios.</a:t>
            </a:r>
            <a:endParaRPr lang="en-US" sz="1600" dirty="0"/>
          </a:p>
        </p:txBody>
      </p:sp>
      <p:sp>
        <p:nvSpPr>
          <p:cNvPr id="13" name="Shape 10"/>
          <p:cNvSpPr/>
          <p:nvPr/>
        </p:nvSpPr>
        <p:spPr>
          <a:xfrm>
            <a:off x="6309360" y="2286000"/>
            <a:ext cx="5303520" cy="3703320"/>
          </a:xfrm>
          <a:prstGeom prst="roundRect">
            <a:avLst>
              <a:gd name="adj" fmla="val 2469"/>
            </a:avLst>
          </a:prstGeom>
          <a:solidFill>
            <a:srgbClr val="0F2D43"/>
          </a:solidFill>
          <a:ln/>
          <a:effectLst>
            <a:outerShdw blurRad="88900" dist="38100" dir="5400000" algn="bl" rotWithShape="0">
              <a:srgbClr val="000000">
                <a:alpha val="13000"/>
              </a:srgbClr>
            </a:outerShdw>
          </a:effectLst>
        </p:spPr>
        <p:txBody>
          <a:bodyPr/>
          <a:lstStyle/>
          <a:p>
            <a:endParaRPr lang="es-CO"/>
          </a:p>
        </p:txBody>
      </p:sp>
      <p:sp>
        <p:nvSpPr>
          <p:cNvPr id="14" name="Text 11"/>
          <p:cNvSpPr/>
          <p:nvPr/>
        </p:nvSpPr>
        <p:spPr>
          <a:xfrm>
            <a:off x="6583680" y="2514600"/>
            <a:ext cx="4754880" cy="365760"/>
          </a:xfrm>
          <a:prstGeom prst="rect">
            <a:avLst/>
          </a:prstGeom>
          <a:noFill/>
          <a:ln/>
        </p:spPr>
        <p:txBody>
          <a:bodyPr wrap="square" lIns="0" tIns="0" rIns="0" bIns="0" rtlCol="0" anchor="ctr"/>
          <a:lstStyle/>
          <a:p>
            <a:pPr marL="0" indent="0">
              <a:buNone/>
            </a:pPr>
            <a:r>
              <a:rPr lang="en-US" sz="1600" b="1" dirty="0">
                <a:solidFill>
                  <a:srgbClr val="9FC2D1"/>
                </a:solidFill>
                <a:latin typeface="Cambria" pitchFamily="34" charset="0"/>
                <a:ea typeface="Cambria" pitchFamily="34" charset="-122"/>
                <a:cs typeface="Cambria" pitchFamily="34" charset="-120"/>
              </a:rPr>
              <a:t>Ejemplo (primera fila)</a:t>
            </a:r>
            <a:endParaRPr lang="en-US" sz="1600" dirty="0"/>
          </a:p>
        </p:txBody>
      </p:sp>
      <p:sp>
        <p:nvSpPr>
          <p:cNvPr id="15" name="Text 12"/>
          <p:cNvSpPr/>
          <p:nvPr/>
        </p:nvSpPr>
        <p:spPr>
          <a:xfrm>
            <a:off x="6583680" y="3017520"/>
            <a:ext cx="475488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$402.000</a:t>
            </a:r>
            <a:r>
              <a:rPr lang="en-US" sz="2000" dirty="0">
                <a:solidFill>
                  <a:srgbClr val="7FB3C7"/>
                </a:solidFill>
                <a:latin typeface="Calibri" pitchFamily="34" charset="0"/>
                <a:ea typeface="Calibri" pitchFamily="34" charset="-122"/>
                <a:cs typeface="Calibri" pitchFamily="34" charset="-120"/>
              </a:rPr>
              <a:t>  ÷  </a:t>
            </a:r>
            <a:r>
              <a:rPr lang="en-US" sz="2000" b="1" dirty="0">
                <a:solidFill>
                  <a:srgbClr val="FFFFFF"/>
                </a:solidFill>
                <a:latin typeface="Calibri" pitchFamily="34" charset="0"/>
                <a:ea typeface="Calibri" pitchFamily="34" charset="-122"/>
                <a:cs typeface="Calibri" pitchFamily="34" charset="-120"/>
              </a:rPr>
              <a:t>11 predios</a:t>
            </a:r>
            <a:endParaRPr lang="en-US" sz="2000" dirty="0"/>
          </a:p>
        </p:txBody>
      </p:sp>
      <p:sp>
        <p:nvSpPr>
          <p:cNvPr id="16" name="Text 13"/>
          <p:cNvSpPr/>
          <p:nvPr/>
        </p:nvSpPr>
        <p:spPr>
          <a:xfrm>
            <a:off x="6583680" y="3657600"/>
            <a:ext cx="4754880" cy="457200"/>
          </a:xfrm>
          <a:prstGeom prst="rect">
            <a:avLst/>
          </a:prstGeom>
          <a:noFill/>
          <a:ln/>
        </p:spPr>
        <p:txBody>
          <a:bodyPr wrap="square" lIns="0" tIns="0" rIns="0" bIns="0" rtlCol="0" anchor="ctr"/>
          <a:lstStyle/>
          <a:p>
            <a:pPr marL="0" indent="0">
              <a:buNone/>
            </a:pPr>
            <a:r>
              <a:rPr lang="en-US" sz="1800" dirty="0">
                <a:solidFill>
                  <a:srgbClr val="7FB3C7"/>
                </a:solidFill>
                <a:latin typeface="Calibri" pitchFamily="34" charset="0"/>
                <a:ea typeface="Calibri" pitchFamily="34" charset="-122"/>
                <a:cs typeface="Calibri" pitchFamily="34" charset="-120"/>
              </a:rPr>
              <a:t>=</a:t>
            </a:r>
            <a:endParaRPr lang="en-US" sz="1800" dirty="0"/>
          </a:p>
        </p:txBody>
      </p:sp>
      <p:sp>
        <p:nvSpPr>
          <p:cNvPr id="17" name="Text 14"/>
          <p:cNvSpPr/>
          <p:nvPr/>
        </p:nvSpPr>
        <p:spPr>
          <a:xfrm>
            <a:off x="6583680" y="4023360"/>
            <a:ext cx="475488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$36.545,45</a:t>
            </a:r>
            <a:endParaRPr lang="en-US" sz="4000" dirty="0"/>
          </a:p>
        </p:txBody>
      </p:sp>
      <p:sp>
        <p:nvSpPr>
          <p:cNvPr id="18" name="Text 15"/>
          <p:cNvSpPr/>
          <p:nvPr/>
        </p:nvSpPr>
        <p:spPr>
          <a:xfrm>
            <a:off x="6583680" y="4754880"/>
            <a:ext cx="4754880" cy="365760"/>
          </a:xfrm>
          <a:prstGeom prst="rect">
            <a:avLst/>
          </a:prstGeom>
          <a:noFill/>
          <a:ln/>
        </p:spPr>
        <p:txBody>
          <a:bodyPr wrap="square" lIns="0" tIns="0" rIns="0" bIns="0" rtlCol="0" anchor="ctr"/>
          <a:lstStyle/>
          <a:p>
            <a:pPr marL="0" indent="0">
              <a:buNone/>
            </a:pPr>
            <a:r>
              <a:rPr lang="en-US" sz="1400" dirty="0">
                <a:solidFill>
                  <a:srgbClr val="9FC2D1"/>
                </a:solidFill>
                <a:latin typeface="Calibri" pitchFamily="34" charset="0"/>
                <a:ea typeface="Calibri" pitchFamily="34" charset="-122"/>
                <a:cs typeface="Calibri" pitchFamily="34" charset="-120"/>
              </a:rPr>
              <a:t>por predio</a:t>
            </a:r>
            <a:endParaRPr lang="en-US" sz="1400" dirty="0"/>
          </a:p>
        </p:txBody>
      </p:sp>
      <p:sp>
        <p:nvSpPr>
          <p:cNvPr id="19" name="Text 16"/>
          <p:cNvSpPr/>
          <p:nvPr/>
        </p:nvSpPr>
        <p:spPr>
          <a:xfrm>
            <a:off x="6583680" y="5257800"/>
            <a:ext cx="4754880" cy="548640"/>
          </a:xfrm>
          <a:prstGeom prst="rect">
            <a:avLst/>
          </a:prstGeom>
          <a:noFill/>
          <a:ln/>
        </p:spPr>
        <p:txBody>
          <a:bodyPr wrap="square" lIns="0" tIns="0" rIns="0" bIns="0" rtlCol="0" anchor="t"/>
          <a:lstStyle/>
          <a:p>
            <a:pPr marL="0" indent="0">
              <a:buNone/>
            </a:pPr>
            <a:r>
              <a:rPr lang="en-US" sz="1200" i="1" dirty="0">
                <a:solidFill>
                  <a:srgbClr val="C9DEE8"/>
                </a:solidFill>
                <a:latin typeface="Calibri" pitchFamily="34" charset="0"/>
                <a:ea typeface="Calibri" pitchFamily="34" charset="-122"/>
                <a:cs typeface="Calibri" pitchFamily="34" charset="-120"/>
              </a:rPr>
              <a:t>TOTAL_PREDIOS nunca es 0 ni nulo → no hay infinitos ni vacíos.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2F6690"/>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Columna 2 · NOMBRE_SHD</a:t>
            </a:r>
            <a:endParaRPr lang="en-US" sz="3000" dirty="0"/>
          </a:p>
        </p:txBody>
      </p:sp>
      <p:sp>
        <p:nvSpPr>
          <p:cNvPr id="7" name="Text 4"/>
          <p:cNvSpPr/>
          <p:nvPr/>
        </p:nvSpPr>
        <p:spPr>
          <a:xfrm>
            <a:off x="548640" y="1545336"/>
            <a:ext cx="11064240" cy="457200"/>
          </a:xfrm>
          <a:prstGeom prst="rect">
            <a:avLst/>
          </a:prstGeom>
          <a:noFill/>
          <a:ln/>
        </p:spPr>
        <p:txBody>
          <a:bodyPr wrap="square" lIns="0" tIns="0" rIns="0" bIns="0" rtlCol="0" anchor="ctr"/>
          <a:lstStyle/>
          <a:p>
            <a:pPr marL="0" indent="0">
              <a:buNone/>
            </a:pPr>
            <a:r>
              <a:rPr lang="en-US" dirty="0">
                <a:solidFill>
                  <a:srgbClr val="1E293B"/>
                </a:solidFill>
                <a:latin typeface="Calibri" pitchFamily="34" charset="0"/>
                <a:ea typeface="Calibri" pitchFamily="34" charset="-122"/>
                <a:cs typeface="Calibri" pitchFamily="34" charset="-120"/>
              </a:rPr>
              <a:t>Traduce el código numérico de destino (DESTINO_SHD) a una etiqueta de texto legible.</a:t>
            </a:r>
            <a:endParaRPr lang="en-US" dirty="0"/>
          </a:p>
        </p:txBody>
      </p:sp>
      <p:sp>
        <p:nvSpPr>
          <p:cNvPr id="8" name="Shape 5"/>
          <p:cNvSpPr/>
          <p:nvPr/>
        </p:nvSpPr>
        <p:spPr>
          <a:xfrm>
            <a:off x="548640" y="2185416"/>
            <a:ext cx="5394960" cy="960120"/>
          </a:xfrm>
          <a:prstGeom prst="roundRect">
            <a:avLst>
              <a:gd name="adj" fmla="val 5714"/>
            </a:avLst>
          </a:prstGeom>
          <a:solidFill>
            <a:srgbClr val="0F2D43"/>
          </a:solidFill>
          <a:ln/>
          <a:effectLst>
            <a:outerShdw blurRad="88900" dist="38100" dir="5400000" algn="bl" rotWithShape="0">
              <a:srgbClr val="000000">
                <a:alpha val="13000"/>
              </a:srgbClr>
            </a:outerShdw>
          </a:effectLst>
        </p:spPr>
        <p:txBody>
          <a:bodyPr/>
          <a:lstStyle/>
          <a:p>
            <a:endParaRPr lang="es-CO" sz="2400"/>
          </a:p>
        </p:txBody>
      </p:sp>
      <p:sp>
        <p:nvSpPr>
          <p:cNvPr id="9" name="Text 6"/>
          <p:cNvSpPr/>
          <p:nvPr/>
        </p:nvSpPr>
        <p:spPr>
          <a:xfrm>
            <a:off x="749808" y="2331720"/>
            <a:ext cx="4992624" cy="667512"/>
          </a:xfrm>
          <a:prstGeom prst="rect">
            <a:avLst/>
          </a:prstGeom>
          <a:noFill/>
          <a:ln/>
        </p:spPr>
        <p:txBody>
          <a:bodyPr wrap="square" lIns="0" tIns="0" rIns="0" bIns="0" rtlCol="0" anchor="t"/>
          <a:lstStyle/>
          <a:p>
            <a:pPr marL="0" indent="0" algn="l">
              <a:buNone/>
            </a:pPr>
            <a:r>
              <a:rPr lang="en-US" dirty="0">
                <a:solidFill>
                  <a:srgbClr val="BFE3EF"/>
                </a:solidFill>
                <a:latin typeface="Courier New" pitchFamily="34" charset="0"/>
                <a:ea typeface="Courier New" pitchFamily="34" charset="-122"/>
                <a:cs typeface="Courier New" pitchFamily="34" charset="-120"/>
              </a:rPr>
              <a:t>df["NOMBRE_SHD"] =</a:t>
            </a:r>
            <a:endParaRPr lang="en-US" dirty="0"/>
          </a:p>
          <a:p>
            <a:pPr marL="0" indent="0" algn="l">
              <a:buNone/>
            </a:pPr>
            <a:r>
              <a:rPr lang="en-US" dirty="0">
                <a:solidFill>
                  <a:srgbClr val="BFE3EF"/>
                </a:solidFill>
                <a:latin typeface="Courier New" pitchFamily="34" charset="0"/>
                <a:ea typeface="Courier New" pitchFamily="34" charset="-122"/>
                <a:cs typeface="Courier New" pitchFamily="34" charset="-120"/>
              </a:rPr>
              <a:t>    df.DESTINO_SHD.map(CODIGO_SHD)</a:t>
            </a:r>
            <a:endParaRPr lang="en-US" dirty="0"/>
          </a:p>
        </p:txBody>
      </p:sp>
      <p:sp>
        <p:nvSpPr>
          <p:cNvPr id="10" name="Shape 7"/>
          <p:cNvSpPr/>
          <p:nvPr/>
        </p:nvSpPr>
        <p:spPr>
          <a:xfrm>
            <a:off x="548640" y="3328416"/>
            <a:ext cx="5394960" cy="2697480"/>
          </a:xfrm>
          <a:prstGeom prst="roundRect">
            <a:avLst>
              <a:gd name="adj" fmla="val 2712"/>
            </a:avLst>
          </a:prstGeom>
          <a:solidFill>
            <a:srgbClr val="F2F6F8"/>
          </a:solidFill>
          <a:ln/>
          <a:effectLst>
            <a:outerShdw blurRad="88900" dist="38100" dir="5400000" algn="bl" rotWithShape="0">
              <a:srgbClr val="000000">
                <a:alpha val="13000"/>
              </a:srgbClr>
            </a:outerShdw>
          </a:effectLst>
        </p:spPr>
        <p:txBody>
          <a:bodyPr/>
          <a:lstStyle/>
          <a:p>
            <a:endParaRPr lang="es-CO" sz="2400"/>
          </a:p>
        </p:txBody>
      </p:sp>
      <p:sp>
        <p:nvSpPr>
          <p:cNvPr id="11" name="Text 8"/>
          <p:cNvSpPr/>
          <p:nvPr/>
        </p:nvSpPr>
        <p:spPr>
          <a:xfrm>
            <a:off x="777240" y="3493008"/>
            <a:ext cx="4937760" cy="365760"/>
          </a:xfrm>
          <a:prstGeom prst="rect">
            <a:avLst/>
          </a:prstGeom>
          <a:noFill/>
          <a:ln/>
        </p:spPr>
        <p:txBody>
          <a:bodyPr wrap="square" lIns="0" tIns="0" rIns="0" bIns="0" rtlCol="0" anchor="ctr"/>
          <a:lstStyle/>
          <a:p>
            <a:pPr marL="0" indent="0">
              <a:buNone/>
            </a:pPr>
            <a:r>
              <a:rPr lang="en-US" b="1" dirty="0">
                <a:solidFill>
                  <a:srgbClr val="2F6690"/>
                </a:solidFill>
                <a:latin typeface="Cambria" pitchFamily="34" charset="0"/>
                <a:ea typeface="Cambria" pitchFamily="34" charset="-122"/>
                <a:cs typeface="Cambria" pitchFamily="34" charset="-120"/>
              </a:rPr>
              <a:t>Unificación de códigos</a:t>
            </a:r>
            <a:endParaRPr lang="en-US" dirty="0"/>
          </a:p>
        </p:txBody>
      </p:sp>
      <p:sp>
        <p:nvSpPr>
          <p:cNvPr id="12" name="Text 9"/>
          <p:cNvSpPr/>
          <p:nvPr/>
        </p:nvSpPr>
        <p:spPr>
          <a:xfrm>
            <a:off x="777240" y="3858768"/>
            <a:ext cx="4937760" cy="1965960"/>
          </a:xfrm>
          <a:prstGeom prst="rect">
            <a:avLst/>
          </a:prstGeom>
          <a:noFill/>
          <a:ln/>
        </p:spPr>
        <p:txBody>
          <a:bodyPr wrap="square" lIns="0" tIns="0" rIns="0" bIns="0" rtlCol="0" anchor="t"/>
          <a:lstStyle/>
          <a:p>
            <a:pPr marL="0" indent="0">
              <a:buNone/>
            </a:pPr>
            <a:r>
              <a:rPr lang="en-US" dirty="0">
                <a:solidFill>
                  <a:srgbClr val="1E293B"/>
                </a:solidFill>
                <a:latin typeface="Calibri" pitchFamily="34" charset="0"/>
                <a:ea typeface="Calibri" pitchFamily="34" charset="-122"/>
                <a:cs typeface="Calibri" pitchFamily="34" charset="-120"/>
              </a:rPr>
              <a:t>El dataset mezclaba el sistema anterior (UAECD), el actual (SHD) y códigos sin especificar.</a:t>
            </a:r>
          </a:p>
          <a:p>
            <a:pPr marL="0" indent="0">
              <a:buNone/>
            </a:pPr>
            <a:endParaRPr lang="en-US" dirty="0"/>
          </a:p>
          <a:p>
            <a:pPr marL="0" indent="0">
              <a:buNone/>
            </a:pPr>
            <a:r>
              <a:rPr lang="en-US" dirty="0">
                <a:solidFill>
                  <a:srgbClr val="1E293B"/>
                </a:solidFill>
                <a:latin typeface="Calibri" pitchFamily="34" charset="0"/>
                <a:ea typeface="Calibri" pitchFamily="34" charset="-122"/>
                <a:cs typeface="Calibri" pitchFamily="34" charset="-120"/>
              </a:rPr>
              <a:t>Con los códigos tributarios distritales y nacionales —y apoyo de IA— se unificaron en el diccionario CODIGO_SHD.</a:t>
            </a:r>
            <a:endParaRPr lang="en-US" dirty="0"/>
          </a:p>
          <a:p>
            <a:pPr marL="0" indent="0">
              <a:buNone/>
            </a:pPr>
            <a:r>
              <a:rPr lang="en-US" i="1" dirty="0">
                <a:solidFill>
                  <a:srgbClr val="1E293B"/>
                </a:solidFill>
                <a:latin typeface="Calibri" pitchFamily="34" charset="0"/>
                <a:ea typeface="Calibri" pitchFamily="34" charset="-122"/>
                <a:cs typeface="Calibri" pitchFamily="34" charset="-120"/>
              </a:rPr>
              <a:t>.map() busca cada valor como clave del diccionario.</a:t>
            </a:r>
            <a:endParaRPr lang="en-US" dirty="0"/>
          </a:p>
        </p:txBody>
      </p:sp>
      <p:graphicFrame>
        <p:nvGraphicFramePr>
          <p:cNvPr id="13" name="Chart 0"/>
          <p:cNvGraphicFramePr/>
          <p:nvPr>
            <p:extLst>
              <p:ext uri="{D42A27DB-BD31-4B8C-83A1-F6EECF244321}">
                <p14:modId xmlns:p14="http://schemas.microsoft.com/office/powerpoint/2010/main" val="1315845482"/>
              </p:ext>
            </p:extLst>
          </p:nvPr>
        </p:nvGraphicFramePr>
        <p:xfrm>
          <a:off x="6309360" y="2148840"/>
          <a:ext cx="5303520" cy="38404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2F6690"/>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Columna 3 · RENTABILIDAD</a:t>
            </a:r>
            <a:endParaRPr lang="en-US" sz="3000" dirty="0"/>
          </a:p>
        </p:txBody>
      </p:sp>
      <p:sp>
        <p:nvSpPr>
          <p:cNvPr id="7" name="Shape 4"/>
          <p:cNvSpPr/>
          <p:nvPr/>
        </p:nvSpPr>
        <p:spPr>
          <a:xfrm>
            <a:off x="548640" y="1554480"/>
            <a:ext cx="5577840" cy="1965960"/>
          </a:xfrm>
          <a:prstGeom prst="roundRect">
            <a:avLst>
              <a:gd name="adj" fmla="val 3721"/>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8" name="Text 5"/>
          <p:cNvSpPr/>
          <p:nvPr/>
        </p:nvSpPr>
        <p:spPr>
          <a:xfrm>
            <a:off x="724075" y="1623376"/>
            <a:ext cx="5120640" cy="365760"/>
          </a:xfrm>
          <a:prstGeom prst="rect">
            <a:avLst/>
          </a:prstGeom>
          <a:noFill/>
          <a:ln/>
        </p:spPr>
        <p:txBody>
          <a:bodyPr wrap="square" lIns="0" tIns="0" rIns="0" bIns="0" rtlCol="0" anchor="ctr"/>
          <a:lstStyle/>
          <a:p>
            <a:pPr marL="0" indent="0">
              <a:buNone/>
            </a:pPr>
            <a:r>
              <a:rPr lang="en-US" sz="1500" b="1" dirty="0">
                <a:solidFill>
                  <a:srgbClr val="2F6690"/>
                </a:solidFill>
                <a:latin typeface="Cambria" pitchFamily="34" charset="0"/>
                <a:ea typeface="Cambria" pitchFamily="34" charset="-122"/>
                <a:cs typeface="Cambria" pitchFamily="34" charset="-120"/>
              </a:rPr>
              <a:t>Función fábrica: profitability()</a:t>
            </a:r>
            <a:endParaRPr lang="en-US" sz="1500" dirty="0"/>
          </a:p>
        </p:txBody>
      </p:sp>
      <p:sp>
        <p:nvSpPr>
          <p:cNvPr id="9" name="Text 6"/>
          <p:cNvSpPr/>
          <p:nvPr/>
        </p:nvSpPr>
        <p:spPr>
          <a:xfrm>
            <a:off x="617744" y="2078876"/>
            <a:ext cx="5478255" cy="1234440"/>
          </a:xfrm>
          <a:prstGeom prst="rect">
            <a:avLst/>
          </a:prstGeom>
          <a:noFill/>
          <a:ln/>
        </p:spPr>
        <p:txBody>
          <a:bodyPr wrap="square" lIns="0" tIns="0" rIns="0" bIns="0" rtlCol="0" anchor="t"/>
          <a:lstStyle/>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Calcula UNA sola vez la media de TOTAL_PAGADO y dos umbrales (0,5× y 1,5×).</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Devuelve una función interna aplicada fila a fila con .apply().</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Ventaja: la media no se recalcula en 168.287 filas; umbrales idénticos para todo el dataset.</a:t>
            </a:r>
            <a:endParaRPr lang="en-US" sz="1600" dirty="0"/>
          </a:p>
        </p:txBody>
      </p:sp>
      <p:sp>
        <p:nvSpPr>
          <p:cNvPr id="10" name="Shape 7"/>
          <p:cNvSpPr/>
          <p:nvPr/>
        </p:nvSpPr>
        <p:spPr>
          <a:xfrm>
            <a:off x="548640" y="3703320"/>
            <a:ext cx="5577840" cy="2286000"/>
          </a:xfrm>
          <a:prstGeom prst="roundRect">
            <a:avLst>
              <a:gd name="adj" fmla="val 3200"/>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11" name="Text 8"/>
          <p:cNvSpPr/>
          <p:nvPr/>
        </p:nvSpPr>
        <p:spPr>
          <a:xfrm>
            <a:off x="777240" y="3867912"/>
            <a:ext cx="5120640" cy="365760"/>
          </a:xfrm>
          <a:prstGeom prst="rect">
            <a:avLst/>
          </a:prstGeom>
          <a:noFill/>
          <a:ln/>
        </p:spPr>
        <p:txBody>
          <a:bodyPr wrap="square" lIns="0" tIns="0" rIns="0" bIns="0" rtlCol="0" anchor="ctr"/>
          <a:lstStyle/>
          <a:p>
            <a:pPr marL="0" indent="0">
              <a:buNone/>
            </a:pPr>
            <a:r>
              <a:rPr lang="en-US" sz="1500" b="1" dirty="0">
                <a:solidFill>
                  <a:srgbClr val="16897E"/>
                </a:solidFill>
                <a:latin typeface="Cambria" pitchFamily="34" charset="0"/>
                <a:ea typeface="Cambria" pitchFamily="34" charset="-122"/>
                <a:cs typeface="Cambria" pitchFamily="34" charset="-120"/>
              </a:rPr>
              <a:t>Reglas de clasificación</a:t>
            </a:r>
            <a:endParaRPr lang="en-US" sz="1500" dirty="0"/>
          </a:p>
        </p:txBody>
      </p:sp>
      <p:sp>
        <p:nvSpPr>
          <p:cNvPr id="12" name="Text 9"/>
          <p:cNvSpPr/>
          <p:nvPr/>
        </p:nvSpPr>
        <p:spPr>
          <a:xfrm>
            <a:off x="777240" y="4270248"/>
            <a:ext cx="5120640" cy="1554480"/>
          </a:xfrm>
          <a:prstGeom prst="rect">
            <a:avLst/>
          </a:prstGeom>
          <a:noFill/>
          <a:ln/>
        </p:spPr>
        <p:txBody>
          <a:bodyPr wrap="square" lIns="0" tIns="0" rIns="0" bIns="0" rtlCol="0" anchor="t"/>
          <a:lstStyle/>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&gt; 1,5× la media  →  ALTA rentabilidad</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&lt; 0,5× la media  →  BAJA rentabilidad</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Entre ambos umbrales  → MEDIA </a:t>
            </a:r>
            <a:r>
              <a:rPr lang="en-US" sz="1600" dirty="0" err="1">
                <a:solidFill>
                  <a:srgbClr val="1E293B"/>
                </a:solidFill>
                <a:latin typeface="Calibri" pitchFamily="34" charset="0"/>
                <a:ea typeface="Calibri" pitchFamily="34" charset="-122"/>
                <a:cs typeface="Calibri" pitchFamily="34" charset="-120"/>
              </a:rPr>
              <a:t>rentabilidad</a:t>
            </a:r>
            <a:endParaRPr lang="en-US" sz="1600" dirty="0"/>
          </a:p>
          <a:p>
            <a:pPr marL="0" indent="0">
              <a:buNone/>
            </a:pPr>
            <a:r>
              <a:rPr lang="en-US" sz="1600" i="1" dirty="0">
                <a:solidFill>
                  <a:srgbClr val="5B7180"/>
                </a:solidFill>
                <a:latin typeface="Calibri" pitchFamily="34" charset="0"/>
                <a:ea typeface="Calibri" pitchFamily="34" charset="-122"/>
                <a:cs typeface="Calibri" pitchFamily="34" charset="-120"/>
              </a:rPr>
              <a:t>Media ≈ $247,1 M · umbrales ≈ $123,6 M y $370,7 M</a:t>
            </a:r>
            <a:endParaRPr lang="en-US" sz="1600" dirty="0"/>
          </a:p>
        </p:txBody>
      </p:sp>
      <p:graphicFrame>
        <p:nvGraphicFramePr>
          <p:cNvPr id="13" name="Chart 0"/>
          <p:cNvGraphicFramePr/>
          <p:nvPr>
            <p:extLst>
              <p:ext uri="{D42A27DB-BD31-4B8C-83A1-F6EECF244321}">
                <p14:modId xmlns:p14="http://schemas.microsoft.com/office/powerpoint/2010/main" val="2180154565"/>
              </p:ext>
            </p:extLst>
          </p:nvPr>
        </p:nvGraphicFramePr>
        <p:xfrm>
          <a:off x="6400800" y="1645920"/>
          <a:ext cx="5212080" cy="42976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6897E"/>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Pregunta 1 · Morosos por estrato</a:t>
            </a:r>
            <a:endParaRPr lang="en-US" sz="3000" dirty="0"/>
          </a:p>
        </p:txBody>
      </p:sp>
      <p:sp>
        <p:nvSpPr>
          <p:cNvPr id="7" name="Text 4"/>
          <p:cNvSpPr/>
          <p:nvPr/>
        </p:nvSpPr>
        <p:spPr>
          <a:xfrm>
            <a:off x="548640" y="1508760"/>
            <a:ext cx="11064240" cy="457200"/>
          </a:xfrm>
          <a:prstGeom prst="rect">
            <a:avLst/>
          </a:prstGeom>
          <a:noFill/>
          <a:ln/>
        </p:spPr>
        <p:txBody>
          <a:bodyPr wrap="square" lIns="0" tIns="0" rIns="0" bIns="0" rtlCol="0" anchor="ctr"/>
          <a:lstStyle/>
          <a:p>
            <a:pPr marL="0" indent="0">
              <a:buNone/>
            </a:pPr>
            <a:r>
              <a:rPr lang="en-US" sz="1600" dirty="0">
                <a:solidFill>
                  <a:schemeClr val="accent1"/>
                </a:solidFill>
                <a:latin typeface="Courier New" pitchFamily="34" charset="0"/>
                <a:ea typeface="Courier New" pitchFamily="34" charset="-122"/>
                <a:cs typeface="Courier New" pitchFamily="34" charset="-120"/>
              </a:rPr>
              <a:t>slow_payers_by_stratus()  ·  agrupa por estrato y aplica 3 agregaciones sobre TOTAL_PREDIOS_MOROSOS</a:t>
            </a:r>
            <a:endParaRPr lang="en-US" sz="1600" dirty="0">
              <a:solidFill>
                <a:schemeClr val="accent1"/>
              </a:solidFill>
            </a:endParaRPr>
          </a:p>
        </p:txBody>
      </p:sp>
      <p:sp>
        <p:nvSpPr>
          <p:cNvPr id="8" name="Shape 5"/>
          <p:cNvSpPr/>
          <p:nvPr/>
        </p:nvSpPr>
        <p:spPr>
          <a:xfrm>
            <a:off x="548640" y="2194560"/>
            <a:ext cx="3520440" cy="1554480"/>
          </a:xfrm>
          <a:prstGeom prst="roundRect">
            <a:avLst>
              <a:gd name="adj" fmla="val 4706"/>
            </a:avLst>
          </a:prstGeom>
          <a:solidFill>
            <a:srgbClr val="F2F6F8"/>
          </a:solidFill>
          <a:ln/>
          <a:effectLst>
            <a:outerShdw blurRad="88900" dist="38100" dir="5400000" algn="bl" rotWithShape="0">
              <a:srgbClr val="000000">
                <a:alpha val="13000"/>
              </a:srgbClr>
            </a:outerShdw>
          </a:effectLst>
        </p:spPr>
        <p:txBody>
          <a:bodyPr/>
          <a:lstStyle/>
          <a:p>
            <a:endParaRPr lang="es-CO" sz="3200"/>
          </a:p>
        </p:txBody>
      </p:sp>
      <p:sp>
        <p:nvSpPr>
          <p:cNvPr id="9" name="Text 6"/>
          <p:cNvSpPr/>
          <p:nvPr/>
        </p:nvSpPr>
        <p:spPr>
          <a:xfrm>
            <a:off x="777240" y="2331720"/>
            <a:ext cx="3108960" cy="457200"/>
          </a:xfrm>
          <a:prstGeom prst="rect">
            <a:avLst/>
          </a:prstGeom>
          <a:noFill/>
          <a:ln/>
        </p:spPr>
        <p:txBody>
          <a:bodyPr wrap="square" lIns="0" tIns="0" rIns="0" bIns="0" rtlCol="0" anchor="ctr"/>
          <a:lstStyle/>
          <a:p>
            <a:pPr marL="0" indent="0">
              <a:buNone/>
            </a:pPr>
            <a:r>
              <a:rPr lang="en-US" sz="2400" b="1" dirty="0">
                <a:solidFill>
                  <a:srgbClr val="16897E"/>
                </a:solidFill>
                <a:latin typeface="Courier New" pitchFamily="34" charset="0"/>
                <a:ea typeface="Courier New" pitchFamily="34" charset="-122"/>
                <a:cs typeface="Courier New" pitchFamily="34" charset="-120"/>
              </a:rPr>
              <a:t>count</a:t>
            </a:r>
            <a:endParaRPr lang="en-US" sz="2400" dirty="0"/>
          </a:p>
        </p:txBody>
      </p:sp>
      <p:sp>
        <p:nvSpPr>
          <p:cNvPr id="10" name="Text 7"/>
          <p:cNvSpPr/>
          <p:nvPr/>
        </p:nvSpPr>
        <p:spPr>
          <a:xfrm>
            <a:off x="777240" y="2788920"/>
            <a:ext cx="3108960" cy="868680"/>
          </a:xfrm>
          <a:prstGeom prst="rect">
            <a:avLst/>
          </a:prstGeom>
          <a:noFill/>
          <a:ln/>
        </p:spPr>
        <p:txBody>
          <a:bodyPr wrap="square" lIns="0" tIns="0" rIns="0" bIns="0" rtlCol="0" anchor="t"/>
          <a:lstStyle/>
          <a:p>
            <a:pPr marL="0" indent="0">
              <a:buNone/>
            </a:pPr>
            <a:r>
              <a:rPr lang="en-US" dirty="0">
                <a:solidFill>
                  <a:srgbClr val="1E293B"/>
                </a:solidFill>
                <a:latin typeface="Calibri" pitchFamily="34" charset="0"/>
                <a:ea typeface="Calibri" pitchFamily="34" charset="-122"/>
                <a:cs typeface="Calibri" pitchFamily="34" charset="-120"/>
              </a:rPr>
              <a:t>Cuántos registros hay por cada estrato.</a:t>
            </a:r>
            <a:endParaRPr lang="en-US" dirty="0"/>
          </a:p>
        </p:txBody>
      </p:sp>
      <p:sp>
        <p:nvSpPr>
          <p:cNvPr id="11" name="Shape 8"/>
          <p:cNvSpPr/>
          <p:nvPr/>
        </p:nvSpPr>
        <p:spPr>
          <a:xfrm>
            <a:off x="4251960" y="2194560"/>
            <a:ext cx="3520440" cy="1554480"/>
          </a:xfrm>
          <a:prstGeom prst="roundRect">
            <a:avLst>
              <a:gd name="adj" fmla="val 4706"/>
            </a:avLst>
          </a:prstGeom>
          <a:solidFill>
            <a:srgbClr val="F2F6F8"/>
          </a:solidFill>
          <a:ln/>
          <a:effectLst>
            <a:outerShdw blurRad="88900" dist="38100" dir="5400000" algn="bl" rotWithShape="0">
              <a:srgbClr val="000000">
                <a:alpha val="13000"/>
              </a:srgbClr>
            </a:outerShdw>
          </a:effectLst>
        </p:spPr>
        <p:txBody>
          <a:bodyPr/>
          <a:lstStyle/>
          <a:p>
            <a:endParaRPr lang="es-CO" sz="2000"/>
          </a:p>
        </p:txBody>
      </p:sp>
      <p:sp>
        <p:nvSpPr>
          <p:cNvPr id="12" name="Text 9"/>
          <p:cNvSpPr/>
          <p:nvPr/>
        </p:nvSpPr>
        <p:spPr>
          <a:xfrm>
            <a:off x="4480560" y="2331720"/>
            <a:ext cx="3108960" cy="457200"/>
          </a:xfrm>
          <a:prstGeom prst="rect">
            <a:avLst/>
          </a:prstGeom>
          <a:noFill/>
          <a:ln/>
        </p:spPr>
        <p:txBody>
          <a:bodyPr wrap="square" lIns="0" tIns="0" rIns="0" bIns="0" rtlCol="0" anchor="ctr"/>
          <a:lstStyle/>
          <a:p>
            <a:pPr marL="0" indent="0">
              <a:buNone/>
            </a:pPr>
            <a:r>
              <a:rPr lang="en-US" sz="2400" b="1" dirty="0">
                <a:solidFill>
                  <a:srgbClr val="16897E"/>
                </a:solidFill>
                <a:latin typeface="Courier New" pitchFamily="34" charset="0"/>
                <a:ea typeface="Courier New" pitchFamily="34" charset="-122"/>
                <a:cs typeface="Courier New" pitchFamily="34" charset="-120"/>
              </a:rPr>
              <a:t>sum</a:t>
            </a:r>
            <a:endParaRPr lang="en-US" sz="2400" dirty="0"/>
          </a:p>
        </p:txBody>
      </p:sp>
      <p:sp>
        <p:nvSpPr>
          <p:cNvPr id="13" name="Text 10"/>
          <p:cNvSpPr/>
          <p:nvPr/>
        </p:nvSpPr>
        <p:spPr>
          <a:xfrm>
            <a:off x="4480560" y="2788920"/>
            <a:ext cx="3108960" cy="868680"/>
          </a:xfrm>
          <a:prstGeom prst="rect">
            <a:avLst/>
          </a:prstGeom>
          <a:noFill/>
          <a:ln/>
        </p:spPr>
        <p:txBody>
          <a:bodyPr wrap="square" lIns="0" tIns="0" rIns="0" bIns="0" rtlCol="0" anchor="t"/>
          <a:lstStyle/>
          <a:p>
            <a:pPr marL="0" indent="0">
              <a:buNone/>
            </a:pPr>
            <a:r>
              <a:rPr lang="en-US" dirty="0">
                <a:solidFill>
                  <a:srgbClr val="1E293B"/>
                </a:solidFill>
                <a:latin typeface="Calibri" pitchFamily="34" charset="0"/>
                <a:ea typeface="Calibri" pitchFamily="34" charset="-122"/>
                <a:cs typeface="Calibri" pitchFamily="34" charset="-120"/>
              </a:rPr>
              <a:t>Total de predios morosos por estrato.</a:t>
            </a:r>
            <a:endParaRPr lang="en-US" dirty="0"/>
          </a:p>
        </p:txBody>
      </p:sp>
      <p:sp>
        <p:nvSpPr>
          <p:cNvPr id="14" name="Shape 11"/>
          <p:cNvSpPr/>
          <p:nvPr/>
        </p:nvSpPr>
        <p:spPr>
          <a:xfrm>
            <a:off x="7955280" y="2194560"/>
            <a:ext cx="3520440" cy="1554480"/>
          </a:xfrm>
          <a:prstGeom prst="roundRect">
            <a:avLst>
              <a:gd name="adj" fmla="val 4706"/>
            </a:avLst>
          </a:prstGeom>
          <a:solidFill>
            <a:srgbClr val="F2F6F8"/>
          </a:solidFill>
          <a:ln/>
          <a:effectLst>
            <a:outerShdw blurRad="88900" dist="38100" dir="5400000" algn="bl" rotWithShape="0">
              <a:srgbClr val="000000">
                <a:alpha val="13000"/>
              </a:srgbClr>
            </a:outerShdw>
          </a:effectLst>
        </p:spPr>
        <p:txBody>
          <a:bodyPr/>
          <a:lstStyle/>
          <a:p>
            <a:endParaRPr lang="es-CO" sz="2000" dirty="0"/>
          </a:p>
        </p:txBody>
      </p:sp>
      <p:sp>
        <p:nvSpPr>
          <p:cNvPr id="15" name="Text 12"/>
          <p:cNvSpPr/>
          <p:nvPr/>
        </p:nvSpPr>
        <p:spPr>
          <a:xfrm>
            <a:off x="8183880" y="2331720"/>
            <a:ext cx="3108960" cy="457200"/>
          </a:xfrm>
          <a:prstGeom prst="rect">
            <a:avLst/>
          </a:prstGeom>
          <a:noFill/>
          <a:ln/>
        </p:spPr>
        <p:txBody>
          <a:bodyPr wrap="square" lIns="0" tIns="0" rIns="0" bIns="0" rtlCol="0" anchor="ctr"/>
          <a:lstStyle/>
          <a:p>
            <a:pPr marL="0" indent="0">
              <a:buNone/>
            </a:pPr>
            <a:r>
              <a:rPr lang="en-US" sz="2400" b="1" dirty="0">
                <a:solidFill>
                  <a:srgbClr val="16897E"/>
                </a:solidFill>
                <a:latin typeface="Courier New" pitchFamily="34" charset="0"/>
                <a:ea typeface="Courier New" pitchFamily="34" charset="-122"/>
                <a:cs typeface="Courier New" pitchFamily="34" charset="-120"/>
              </a:rPr>
              <a:t>max</a:t>
            </a:r>
            <a:endParaRPr lang="en-US" sz="2400" dirty="0"/>
          </a:p>
        </p:txBody>
      </p:sp>
      <p:sp>
        <p:nvSpPr>
          <p:cNvPr id="16" name="Text 13"/>
          <p:cNvSpPr/>
          <p:nvPr/>
        </p:nvSpPr>
        <p:spPr>
          <a:xfrm>
            <a:off x="8183880" y="2788920"/>
            <a:ext cx="3108960" cy="86868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El registro con más morosos en cada estrato.</a:t>
            </a:r>
            <a:endParaRPr lang="en-US" sz="1600" dirty="0"/>
          </a:p>
        </p:txBody>
      </p:sp>
      <p:sp>
        <p:nvSpPr>
          <p:cNvPr id="17" name="Shape 14"/>
          <p:cNvSpPr/>
          <p:nvPr/>
        </p:nvSpPr>
        <p:spPr>
          <a:xfrm>
            <a:off x="548640" y="4023360"/>
            <a:ext cx="11064240" cy="1965960"/>
          </a:xfrm>
          <a:prstGeom prst="roundRect">
            <a:avLst>
              <a:gd name="adj" fmla="val 4651"/>
            </a:avLst>
          </a:prstGeom>
          <a:solidFill>
            <a:srgbClr val="0F2D43"/>
          </a:solidFill>
          <a:ln/>
          <a:effectLst>
            <a:outerShdw blurRad="88900" dist="38100" dir="5400000" algn="bl" rotWithShape="0">
              <a:srgbClr val="000000">
                <a:alpha val="13000"/>
              </a:srgbClr>
            </a:outerShdw>
          </a:effectLst>
        </p:spPr>
        <p:txBody>
          <a:bodyPr/>
          <a:lstStyle/>
          <a:p>
            <a:endParaRPr lang="es-CO" sz="2800"/>
          </a:p>
        </p:txBody>
      </p:sp>
      <p:sp>
        <p:nvSpPr>
          <p:cNvPr id="18" name="Text 15"/>
          <p:cNvSpPr/>
          <p:nvPr/>
        </p:nvSpPr>
        <p:spPr>
          <a:xfrm>
            <a:off x="822960" y="4206240"/>
            <a:ext cx="10515600" cy="365760"/>
          </a:xfrm>
          <a:prstGeom prst="rect">
            <a:avLst/>
          </a:prstGeom>
          <a:noFill/>
          <a:ln/>
        </p:spPr>
        <p:txBody>
          <a:bodyPr wrap="square" lIns="0" tIns="0" rIns="0" bIns="0" rtlCol="0" anchor="ctr"/>
          <a:lstStyle/>
          <a:p>
            <a:pPr marL="0" indent="0">
              <a:buNone/>
            </a:pPr>
            <a:r>
              <a:rPr lang="en-US" sz="2400" b="1" dirty="0">
                <a:solidFill>
                  <a:srgbClr val="9FC2D1"/>
                </a:solidFill>
                <a:latin typeface="Cambria" pitchFamily="34" charset="0"/>
                <a:ea typeface="Cambria" pitchFamily="34" charset="-122"/>
                <a:cs typeface="Cambria" pitchFamily="34" charset="-120"/>
              </a:rPr>
              <a:t>Hallazgo</a:t>
            </a:r>
            <a:endParaRPr lang="en-US" sz="2400" dirty="0"/>
          </a:p>
        </p:txBody>
      </p:sp>
      <p:sp>
        <p:nvSpPr>
          <p:cNvPr id="19" name="Text 16"/>
          <p:cNvSpPr/>
          <p:nvPr/>
        </p:nvSpPr>
        <p:spPr>
          <a:xfrm>
            <a:off x="822960" y="4617720"/>
            <a:ext cx="10515600" cy="118872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S</a:t>
            </a:r>
            <a:r>
              <a:rPr lang="en-US" sz="2000" dirty="0">
                <a:solidFill>
                  <a:srgbClr val="FFFFFF"/>
                </a:solidFill>
                <a:latin typeface="Calibri" pitchFamily="34" charset="0"/>
                <a:ea typeface="Calibri" pitchFamily="34" charset="-122"/>
                <a:cs typeface="Calibri" pitchFamily="34" charset="-120"/>
              </a:rPr>
              <a:t>egún la suma, los estratos con más predios morosos son el 0, el 2 y el 3. Se infiere más morosidad en los estratos bajos, que tiende a decaer conforme sube el estrato — aunque el estrato 1 no sigue esa tendencia.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6897E"/>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Pregunta 2 · Barrios con más recaudo</a:t>
            </a:r>
            <a:endParaRPr lang="en-US" sz="3000" dirty="0"/>
          </a:p>
        </p:txBody>
      </p:sp>
      <p:sp>
        <p:nvSpPr>
          <p:cNvPr id="6" name="Text 3"/>
          <p:cNvSpPr/>
          <p:nvPr/>
        </p:nvSpPr>
        <p:spPr>
          <a:xfrm>
            <a:off x="9326880" y="530352"/>
            <a:ext cx="2286000" cy="420624"/>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JUAN</a:t>
            </a:r>
            <a:endParaRPr lang="en-US" sz="1250" dirty="0"/>
          </a:p>
        </p:txBody>
      </p:sp>
      <p:sp>
        <p:nvSpPr>
          <p:cNvPr id="7" name="Text 4"/>
          <p:cNvSpPr/>
          <p:nvPr/>
        </p:nvSpPr>
        <p:spPr>
          <a:xfrm>
            <a:off x="548640" y="1508760"/>
            <a:ext cx="11064240" cy="457200"/>
          </a:xfrm>
          <a:prstGeom prst="rect">
            <a:avLst/>
          </a:prstGeom>
          <a:noFill/>
          <a:ln/>
        </p:spPr>
        <p:txBody>
          <a:bodyPr wrap="square" lIns="0" tIns="0" rIns="0" bIns="0" rtlCol="0" anchor="ctr"/>
          <a:lstStyle/>
          <a:p>
            <a:pPr marL="0" indent="0">
              <a:buNone/>
            </a:pPr>
            <a:r>
              <a:rPr lang="en-US" sz="1600" dirty="0" err="1">
                <a:solidFill>
                  <a:srgbClr val="16897E"/>
                </a:solidFill>
                <a:latin typeface="Courier New" pitchFamily="34" charset="0"/>
                <a:ea typeface="Courier New" pitchFamily="34" charset="-122"/>
                <a:cs typeface="Courier New" pitchFamily="34" charset="-120"/>
              </a:rPr>
              <a:t>payment_total_by_neighborhood</a:t>
            </a:r>
            <a:r>
              <a:rPr lang="en-US" sz="1600" dirty="0">
                <a:solidFill>
                  <a:srgbClr val="16897E"/>
                </a:solidFill>
                <a:latin typeface="Courier New" pitchFamily="34" charset="0"/>
                <a:ea typeface="Courier New" pitchFamily="34" charset="-122"/>
                <a:cs typeface="Courier New" pitchFamily="34" charset="-120"/>
              </a:rPr>
              <a:t>()  ·  agrupa por barrio, aplica sum y mean sobre el pago total y ordena de mayor a menor</a:t>
            </a:r>
            <a:endParaRPr lang="en-US" sz="1600" dirty="0"/>
          </a:p>
        </p:txBody>
      </p:sp>
      <p:sp>
        <p:nvSpPr>
          <p:cNvPr id="8" name="Shape 5"/>
          <p:cNvSpPr/>
          <p:nvPr/>
        </p:nvSpPr>
        <p:spPr>
          <a:xfrm>
            <a:off x="548640" y="2194560"/>
            <a:ext cx="5303520" cy="1828800"/>
          </a:xfrm>
          <a:prstGeom prst="roundRect">
            <a:avLst>
              <a:gd name="adj" fmla="val 4000"/>
            </a:avLst>
          </a:prstGeom>
          <a:solidFill>
            <a:srgbClr val="F2F6F8"/>
          </a:solidFill>
          <a:ln/>
          <a:effectLst>
            <a:outerShdw blurRad="88900" dist="38100" dir="5400000" algn="bl" rotWithShape="0">
              <a:srgbClr val="000000">
                <a:alpha val="13000"/>
              </a:srgbClr>
            </a:outerShdw>
          </a:effectLst>
        </p:spPr>
        <p:txBody>
          <a:bodyPr/>
          <a:lstStyle/>
          <a:p>
            <a:endParaRPr lang="es-CO" sz="2000"/>
          </a:p>
        </p:txBody>
      </p:sp>
      <p:sp>
        <p:nvSpPr>
          <p:cNvPr id="9" name="Text 6"/>
          <p:cNvSpPr/>
          <p:nvPr/>
        </p:nvSpPr>
        <p:spPr>
          <a:xfrm>
            <a:off x="777240" y="2359152"/>
            <a:ext cx="4846320" cy="365760"/>
          </a:xfrm>
          <a:prstGeom prst="rect">
            <a:avLst/>
          </a:prstGeom>
          <a:noFill/>
          <a:ln/>
        </p:spPr>
        <p:txBody>
          <a:bodyPr wrap="square" lIns="0" tIns="0" rIns="0" bIns="0" rtlCol="0" anchor="ctr"/>
          <a:lstStyle/>
          <a:p>
            <a:pPr marL="0" indent="0">
              <a:buNone/>
            </a:pPr>
            <a:r>
              <a:rPr lang="en-US" sz="1600" b="1" dirty="0">
                <a:solidFill>
                  <a:srgbClr val="16897E"/>
                </a:solidFill>
                <a:latin typeface="Cambria" pitchFamily="34" charset="0"/>
                <a:ea typeface="Cambria" pitchFamily="34" charset="-122"/>
                <a:cs typeface="Cambria" pitchFamily="34" charset="-120"/>
              </a:rPr>
              <a:t>Manejo de excepciones</a:t>
            </a:r>
            <a:endParaRPr lang="en-US" sz="1600" dirty="0"/>
          </a:p>
        </p:txBody>
      </p:sp>
      <p:sp>
        <p:nvSpPr>
          <p:cNvPr id="10" name="Text 7"/>
          <p:cNvSpPr/>
          <p:nvPr/>
        </p:nvSpPr>
        <p:spPr>
          <a:xfrm>
            <a:off x="777240" y="2761488"/>
            <a:ext cx="4846320" cy="1097280"/>
          </a:xfrm>
          <a:prstGeom prst="rect">
            <a:avLst/>
          </a:prstGeom>
          <a:noFill/>
          <a:ln/>
        </p:spPr>
        <p:txBody>
          <a:bodyPr wrap="square" lIns="0" tIns="0" rIns="0" bIns="0" rtlCol="0" anchor="t"/>
          <a:lstStyle/>
          <a:p>
            <a:pPr marL="342900" indent="-342900">
              <a:buSzPct val="100000"/>
              <a:buChar char="•"/>
            </a:pPr>
            <a:r>
              <a:rPr lang="en-US" dirty="0">
                <a:solidFill>
                  <a:srgbClr val="1E293B"/>
                </a:solidFill>
                <a:latin typeface="Calibri" pitchFamily="34" charset="0"/>
                <a:ea typeface="Calibri" pitchFamily="34" charset="-122"/>
                <a:cs typeface="Calibri" pitchFamily="34" charset="-120"/>
              </a:rPr>
              <a:t>check_for_necessary_columns() verifica que existan las columnas necesarias.</a:t>
            </a:r>
            <a:endParaRPr lang="en-US" dirty="0"/>
          </a:p>
          <a:p>
            <a:pPr marL="342900" indent="-342900">
              <a:buSzPct val="100000"/>
              <a:buChar char="•"/>
            </a:pPr>
            <a:r>
              <a:rPr lang="en-US" dirty="0">
                <a:solidFill>
                  <a:srgbClr val="1E293B"/>
                </a:solidFill>
                <a:latin typeface="Calibri" pitchFamily="34" charset="0"/>
                <a:ea typeface="Calibri" pitchFamily="34" charset="-122"/>
                <a:cs typeface="Calibri" pitchFamily="34" charset="-120"/>
              </a:rPr>
              <a:t>is_numeric_dtype() confirma que las columnas de operaciones sean numéricas.</a:t>
            </a:r>
            <a:endParaRPr lang="en-US" dirty="0"/>
          </a:p>
        </p:txBody>
      </p:sp>
      <p:sp>
        <p:nvSpPr>
          <p:cNvPr id="11" name="Shape 8"/>
          <p:cNvSpPr/>
          <p:nvPr/>
        </p:nvSpPr>
        <p:spPr>
          <a:xfrm>
            <a:off x="548640" y="4206240"/>
            <a:ext cx="2560320" cy="1783080"/>
          </a:xfrm>
          <a:prstGeom prst="roundRect">
            <a:avLst>
              <a:gd name="adj" fmla="val 4103"/>
            </a:avLst>
          </a:prstGeom>
          <a:solidFill>
            <a:srgbClr val="0F2D43"/>
          </a:solidFill>
          <a:ln/>
          <a:effectLst>
            <a:outerShdw blurRad="88900" dist="38100" dir="5400000" algn="bl" rotWithShape="0">
              <a:srgbClr val="000000">
                <a:alpha val="13000"/>
              </a:srgbClr>
            </a:outerShdw>
          </a:effectLst>
        </p:spPr>
        <p:txBody>
          <a:bodyPr/>
          <a:lstStyle/>
          <a:p>
            <a:endParaRPr lang="es-CO" sz="2000"/>
          </a:p>
        </p:txBody>
      </p:sp>
      <p:sp>
        <p:nvSpPr>
          <p:cNvPr id="12" name="Text 9"/>
          <p:cNvSpPr/>
          <p:nvPr/>
        </p:nvSpPr>
        <p:spPr>
          <a:xfrm>
            <a:off x="731520" y="434340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Las Margaritas</a:t>
            </a:r>
            <a:endParaRPr lang="en-US" sz="1600" dirty="0"/>
          </a:p>
        </p:txBody>
      </p:sp>
      <p:sp>
        <p:nvSpPr>
          <p:cNvPr id="13" name="Text 10"/>
          <p:cNvSpPr/>
          <p:nvPr/>
        </p:nvSpPr>
        <p:spPr>
          <a:xfrm>
            <a:off x="731520" y="4709160"/>
            <a:ext cx="2194560" cy="548640"/>
          </a:xfrm>
          <a:prstGeom prst="rect">
            <a:avLst/>
          </a:prstGeom>
          <a:noFill/>
          <a:ln/>
        </p:spPr>
        <p:txBody>
          <a:bodyPr wrap="square" lIns="0" tIns="0" rIns="0" bIns="0" rtlCol="0" anchor="ctr"/>
          <a:lstStyle/>
          <a:p>
            <a:pPr marL="0" indent="0">
              <a:buNone/>
            </a:pPr>
            <a:r>
              <a:rPr lang="en-US" sz="2800" b="1" dirty="0">
                <a:solidFill>
                  <a:srgbClr val="7FB3C7"/>
                </a:solidFill>
                <a:latin typeface="Cambria" pitchFamily="34" charset="0"/>
                <a:ea typeface="Cambria" pitchFamily="34" charset="-122"/>
                <a:cs typeface="Cambria" pitchFamily="34" charset="-120"/>
              </a:rPr>
              <a:t>≈ $783 M</a:t>
            </a:r>
            <a:endParaRPr lang="en-US" sz="2800" dirty="0"/>
          </a:p>
        </p:txBody>
      </p:sp>
      <p:sp>
        <p:nvSpPr>
          <p:cNvPr id="14" name="Text 11"/>
          <p:cNvSpPr/>
          <p:nvPr/>
        </p:nvSpPr>
        <p:spPr>
          <a:xfrm>
            <a:off x="731520" y="5257800"/>
            <a:ext cx="2240280" cy="640080"/>
          </a:xfrm>
          <a:prstGeom prst="rect">
            <a:avLst/>
          </a:prstGeom>
          <a:noFill/>
          <a:ln/>
        </p:spPr>
        <p:txBody>
          <a:bodyPr wrap="square" lIns="0" tIns="0" rIns="0" bIns="0" rtlCol="0" anchor="t"/>
          <a:lstStyle/>
          <a:p>
            <a:pPr marL="0" indent="0">
              <a:buNone/>
            </a:pPr>
            <a:r>
              <a:rPr lang="en-US" sz="1200" dirty="0">
                <a:solidFill>
                  <a:srgbClr val="C9DEE8"/>
                </a:solidFill>
                <a:latin typeface="Calibri" pitchFamily="34" charset="0"/>
                <a:ea typeface="Calibri" pitchFamily="34" charset="-122"/>
                <a:cs typeface="Calibri" pitchFamily="34" charset="-120"/>
              </a:rPr>
              <a:t>mayor recaudo total — por volumen de registros</a:t>
            </a:r>
            <a:endParaRPr lang="en-US" sz="1200" dirty="0"/>
          </a:p>
        </p:txBody>
      </p:sp>
      <p:sp>
        <p:nvSpPr>
          <p:cNvPr id="15" name="Shape 12"/>
          <p:cNvSpPr/>
          <p:nvPr/>
        </p:nvSpPr>
        <p:spPr>
          <a:xfrm>
            <a:off x="3291840" y="4206240"/>
            <a:ext cx="2560320" cy="1783080"/>
          </a:xfrm>
          <a:prstGeom prst="roundRect">
            <a:avLst>
              <a:gd name="adj" fmla="val 4103"/>
            </a:avLst>
          </a:prstGeom>
          <a:solidFill>
            <a:srgbClr val="16897E"/>
          </a:solidFill>
          <a:ln/>
          <a:effectLst>
            <a:outerShdw blurRad="88900" dist="38100" dir="5400000" algn="bl" rotWithShape="0">
              <a:srgbClr val="000000">
                <a:alpha val="13000"/>
              </a:srgbClr>
            </a:outerShdw>
          </a:effectLst>
        </p:spPr>
        <p:txBody>
          <a:bodyPr/>
          <a:lstStyle/>
          <a:p>
            <a:endParaRPr lang="es-CO" sz="2000"/>
          </a:p>
        </p:txBody>
      </p:sp>
      <p:sp>
        <p:nvSpPr>
          <p:cNvPr id="16" name="Text 13"/>
          <p:cNvSpPr/>
          <p:nvPr/>
        </p:nvSpPr>
        <p:spPr>
          <a:xfrm>
            <a:off x="3474720" y="434340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Chicó Norte</a:t>
            </a:r>
            <a:endParaRPr lang="en-US" sz="1600" dirty="0"/>
          </a:p>
        </p:txBody>
      </p:sp>
      <p:sp>
        <p:nvSpPr>
          <p:cNvPr id="17" name="Text 14"/>
          <p:cNvSpPr/>
          <p:nvPr/>
        </p:nvSpPr>
        <p:spPr>
          <a:xfrm>
            <a:off x="3474720" y="4709160"/>
            <a:ext cx="219456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×5</a:t>
            </a:r>
            <a:endParaRPr lang="en-US" sz="2800" dirty="0"/>
          </a:p>
        </p:txBody>
      </p:sp>
      <p:sp>
        <p:nvSpPr>
          <p:cNvPr id="18" name="Text 15"/>
          <p:cNvSpPr/>
          <p:nvPr/>
        </p:nvSpPr>
        <p:spPr>
          <a:xfrm>
            <a:off x="3474720" y="5257800"/>
            <a:ext cx="2240280" cy="640080"/>
          </a:xfrm>
          <a:prstGeom prst="rect">
            <a:avLst/>
          </a:prstGeom>
          <a:noFill/>
          <a:ln/>
        </p:spPr>
        <p:txBody>
          <a:bodyPr wrap="square" lIns="0" tIns="0" rIns="0" bIns="0" rtlCol="0" anchor="t"/>
          <a:lstStyle/>
          <a:p>
            <a:pPr marL="0" indent="0">
              <a:buNone/>
            </a:pPr>
            <a:r>
              <a:rPr lang="en-US" sz="1200" dirty="0">
                <a:solidFill>
                  <a:srgbClr val="EAF4F1"/>
                </a:solidFill>
                <a:latin typeface="Calibri" pitchFamily="34" charset="0"/>
                <a:ea typeface="Calibri" pitchFamily="34" charset="-122"/>
                <a:cs typeface="Calibri" pitchFamily="34" charset="-120"/>
              </a:rPr>
              <a:t>mayor promedio por predio (eje Chicó–Santa Bárbara, norte)</a:t>
            </a:r>
            <a:endParaRPr lang="en-US" sz="1200" dirty="0"/>
          </a:p>
        </p:txBody>
      </p:sp>
      <p:graphicFrame>
        <p:nvGraphicFramePr>
          <p:cNvPr id="19" name="Chart 0"/>
          <p:cNvGraphicFramePr/>
          <p:nvPr>
            <p:extLst>
              <p:ext uri="{D42A27DB-BD31-4B8C-83A1-F6EECF244321}">
                <p14:modId xmlns:p14="http://schemas.microsoft.com/office/powerpoint/2010/main" val="2574062653"/>
              </p:ext>
            </p:extLst>
          </p:nvPr>
        </p:nvGraphicFramePr>
        <p:xfrm>
          <a:off x="6126480" y="2148840"/>
          <a:ext cx="5486400" cy="38404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6897E"/>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Pregunta 3 · Recaudo por año</a:t>
            </a:r>
            <a:endParaRPr lang="en-US" sz="3000" dirty="0"/>
          </a:p>
        </p:txBody>
      </p:sp>
      <p:sp>
        <p:nvSpPr>
          <p:cNvPr id="6" name="Text 3"/>
          <p:cNvSpPr/>
          <p:nvPr/>
        </p:nvSpPr>
        <p:spPr>
          <a:xfrm>
            <a:off x="9326880" y="530352"/>
            <a:ext cx="2286000" cy="420624"/>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JUAN</a:t>
            </a:r>
            <a:endParaRPr lang="en-US" sz="1250" dirty="0"/>
          </a:p>
        </p:txBody>
      </p:sp>
      <p:sp>
        <p:nvSpPr>
          <p:cNvPr id="7" name="Text 4"/>
          <p:cNvSpPr/>
          <p:nvPr/>
        </p:nvSpPr>
        <p:spPr>
          <a:xfrm>
            <a:off x="548640" y="1508760"/>
            <a:ext cx="11064240" cy="457200"/>
          </a:xfrm>
          <a:prstGeom prst="rect">
            <a:avLst/>
          </a:prstGeom>
          <a:noFill/>
          <a:ln/>
        </p:spPr>
        <p:txBody>
          <a:bodyPr wrap="square" lIns="0" tIns="0" rIns="0" bIns="0" rtlCol="0" anchor="ctr"/>
          <a:lstStyle/>
          <a:p>
            <a:pPr marL="0" indent="0">
              <a:buNone/>
            </a:pPr>
            <a:r>
              <a:rPr lang="en-US" sz="1600" dirty="0" err="1">
                <a:solidFill>
                  <a:srgbClr val="16897E"/>
                </a:solidFill>
                <a:latin typeface="Courier New" pitchFamily="34" charset="0"/>
                <a:ea typeface="Courier New" pitchFamily="34" charset="-122"/>
                <a:cs typeface="Courier New" pitchFamily="34" charset="-120"/>
              </a:rPr>
              <a:t>Adjust_yearly_total_for_inflation</a:t>
            </a:r>
            <a:r>
              <a:rPr lang="en-US" sz="1600" dirty="0">
                <a:solidFill>
                  <a:srgbClr val="16897E"/>
                </a:solidFill>
                <a:latin typeface="Courier New" pitchFamily="34" charset="0"/>
                <a:ea typeface="Courier New" pitchFamily="34" charset="-122"/>
                <a:cs typeface="Courier New" pitchFamily="34" charset="-120"/>
              </a:rPr>
              <a:t>(df, año)  ·  agrupa por año, suma pagos nominales y los lleva a precios constantes con el IPC</a:t>
            </a:r>
            <a:endParaRPr lang="en-US" sz="1600" dirty="0"/>
          </a:p>
        </p:txBody>
      </p:sp>
      <p:sp>
        <p:nvSpPr>
          <p:cNvPr id="8" name="Shape 5"/>
          <p:cNvSpPr/>
          <p:nvPr/>
        </p:nvSpPr>
        <p:spPr>
          <a:xfrm>
            <a:off x="548640" y="2148840"/>
            <a:ext cx="11064240" cy="685800"/>
          </a:xfrm>
          <a:prstGeom prst="roundRect">
            <a:avLst>
              <a:gd name="adj" fmla="val 8000"/>
            </a:avLst>
          </a:prstGeom>
          <a:solidFill>
            <a:srgbClr val="0F2D43"/>
          </a:solidFill>
          <a:ln/>
          <a:effectLst>
            <a:outerShdw blurRad="88900" dist="38100" dir="5400000" algn="bl" rotWithShape="0">
              <a:srgbClr val="000000">
                <a:alpha val="13000"/>
              </a:srgbClr>
            </a:outerShdw>
          </a:effectLst>
        </p:spPr>
        <p:txBody>
          <a:bodyPr/>
          <a:lstStyle/>
          <a:p>
            <a:endParaRPr lang="es-CO" dirty="0"/>
          </a:p>
        </p:txBody>
      </p:sp>
      <p:sp>
        <p:nvSpPr>
          <p:cNvPr id="9" name="Text 6"/>
          <p:cNvSpPr/>
          <p:nvPr/>
        </p:nvSpPr>
        <p:spPr>
          <a:xfrm>
            <a:off x="749808" y="2295144"/>
            <a:ext cx="10661904" cy="393192"/>
          </a:xfrm>
          <a:prstGeom prst="rect">
            <a:avLst/>
          </a:prstGeom>
          <a:noFill/>
          <a:ln/>
        </p:spPr>
        <p:txBody>
          <a:bodyPr wrap="square" lIns="0" tIns="0" rIns="0" bIns="0" rtlCol="0" anchor="t"/>
          <a:lstStyle/>
          <a:p>
            <a:pPr marL="0" indent="0" algn="ctr">
              <a:buNone/>
            </a:pPr>
            <a:r>
              <a:rPr lang="en-US" dirty="0">
                <a:solidFill>
                  <a:schemeClr val="bg1"/>
                </a:solidFill>
                <a:latin typeface="Courier New" pitchFamily="34" charset="0"/>
                <a:ea typeface="Courier New" pitchFamily="34" charset="-122"/>
                <a:cs typeface="Courier New" pitchFamily="34" charset="-120"/>
              </a:rPr>
              <a:t>valor_actual = valor * IPC[año_objetivo] / IPC[año_del_valor]</a:t>
            </a:r>
            <a:endParaRPr lang="en-US" dirty="0">
              <a:solidFill>
                <a:schemeClr val="bg1"/>
              </a:solidFill>
            </a:endParaRPr>
          </a:p>
        </p:txBody>
      </p:sp>
      <p:sp>
        <p:nvSpPr>
          <p:cNvPr id="10" name="Shape 7"/>
          <p:cNvSpPr/>
          <p:nvPr/>
        </p:nvSpPr>
        <p:spPr>
          <a:xfrm>
            <a:off x="548640" y="3063240"/>
            <a:ext cx="5486400" cy="2926080"/>
          </a:xfrm>
          <a:prstGeom prst="roundRect">
            <a:avLst>
              <a:gd name="adj" fmla="val 2500"/>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11" name="Text 8"/>
          <p:cNvSpPr/>
          <p:nvPr/>
        </p:nvSpPr>
        <p:spPr>
          <a:xfrm>
            <a:off x="777240" y="3227832"/>
            <a:ext cx="5029200" cy="365760"/>
          </a:xfrm>
          <a:prstGeom prst="rect">
            <a:avLst/>
          </a:prstGeom>
          <a:noFill/>
          <a:ln/>
        </p:spPr>
        <p:txBody>
          <a:bodyPr wrap="square" lIns="0" tIns="0" rIns="0" bIns="0" rtlCol="0" anchor="ctr"/>
          <a:lstStyle/>
          <a:p>
            <a:pPr marL="0" indent="0">
              <a:buNone/>
            </a:pPr>
            <a:r>
              <a:rPr lang="en-US" sz="1500" b="1" dirty="0">
                <a:solidFill>
                  <a:srgbClr val="16897E"/>
                </a:solidFill>
                <a:latin typeface="Cambria" pitchFamily="34" charset="0"/>
                <a:ea typeface="Cambria" pitchFamily="34" charset="-122"/>
                <a:cs typeface="Cambria" pitchFamily="34" charset="-120"/>
              </a:rPr>
              <a:t>Cómo funciona</a:t>
            </a:r>
            <a:endParaRPr lang="en-US" sz="1500" dirty="0"/>
          </a:p>
        </p:txBody>
      </p:sp>
      <p:sp>
        <p:nvSpPr>
          <p:cNvPr id="12" name="Text 9"/>
          <p:cNvSpPr/>
          <p:nvPr/>
        </p:nvSpPr>
        <p:spPr>
          <a:xfrm>
            <a:off x="777240" y="3630168"/>
            <a:ext cx="5029200" cy="2194560"/>
          </a:xfrm>
          <a:prstGeom prst="rect">
            <a:avLst/>
          </a:prstGeom>
          <a:noFill/>
          <a:ln/>
        </p:spPr>
        <p:txBody>
          <a:bodyPr wrap="square" lIns="0" tIns="0" rIns="0" bIns="0" rtlCol="0" anchor="t"/>
          <a:lstStyle/>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Diccionario con el IPC de cierre de Colombia, 2000–2025 (Banco de la República).</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Visualización con 2023 como año de referencia; puede llevarse hasta 2025.</a:t>
            </a:r>
          </a:p>
          <a:p>
            <a:pPr marL="342900" indent="-342900">
              <a:buSzPct val="100000"/>
              <a:buChar char="•"/>
            </a:pPr>
            <a:endParaRPr lang="en-US" sz="1600" dirty="0"/>
          </a:p>
          <a:p>
            <a:pPr>
              <a:buSzPct val="100000"/>
            </a:pPr>
            <a:r>
              <a:rPr lang="en-US" sz="1600" dirty="0">
                <a:solidFill>
                  <a:srgbClr val="1E293B"/>
                </a:solidFill>
                <a:latin typeface="Calibri" pitchFamily="34" charset="0"/>
                <a:ea typeface="Calibri" pitchFamily="34" charset="-122"/>
                <a:cs typeface="Calibri" pitchFamily="34" charset="-120"/>
              </a:rPr>
              <a:t>Mismo manejo de excepciones: check_for_necessary_columns() e is_numeric_dtype().</a:t>
            </a:r>
            <a:endParaRPr lang="en-US" sz="1250" dirty="0"/>
          </a:p>
        </p:txBody>
      </p:sp>
      <p:sp>
        <p:nvSpPr>
          <p:cNvPr id="13" name="Shape 10"/>
          <p:cNvSpPr/>
          <p:nvPr/>
        </p:nvSpPr>
        <p:spPr>
          <a:xfrm>
            <a:off x="6309360" y="3063240"/>
            <a:ext cx="1691640" cy="1371600"/>
          </a:xfrm>
          <a:prstGeom prst="roundRect">
            <a:avLst>
              <a:gd name="adj" fmla="val 5333"/>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14" name="Text 11"/>
          <p:cNvSpPr/>
          <p:nvPr/>
        </p:nvSpPr>
        <p:spPr>
          <a:xfrm>
            <a:off x="6309360" y="3246120"/>
            <a:ext cx="1691640" cy="640080"/>
          </a:xfrm>
          <a:prstGeom prst="rect">
            <a:avLst/>
          </a:prstGeom>
          <a:noFill/>
          <a:ln/>
        </p:spPr>
        <p:txBody>
          <a:bodyPr wrap="square" lIns="0" tIns="0" rIns="0" bIns="0" rtlCol="0" anchor="ctr"/>
          <a:lstStyle/>
          <a:p>
            <a:pPr marL="0" indent="0" algn="ctr">
              <a:buNone/>
            </a:pPr>
            <a:r>
              <a:rPr lang="en-US" sz="3000" b="1" dirty="0">
                <a:solidFill>
                  <a:srgbClr val="16897E"/>
                </a:solidFill>
                <a:latin typeface="Cambria" pitchFamily="34" charset="0"/>
                <a:ea typeface="Cambria" pitchFamily="34" charset="-122"/>
                <a:cs typeface="Cambria" pitchFamily="34" charset="-120"/>
              </a:rPr>
              <a:t>2020</a:t>
            </a:r>
            <a:endParaRPr lang="en-US" sz="3000" dirty="0"/>
          </a:p>
        </p:txBody>
      </p:sp>
      <p:sp>
        <p:nvSpPr>
          <p:cNvPr id="15" name="Text 12"/>
          <p:cNvSpPr/>
          <p:nvPr/>
        </p:nvSpPr>
        <p:spPr>
          <a:xfrm>
            <a:off x="6309360" y="3886200"/>
            <a:ext cx="1691640" cy="365760"/>
          </a:xfrm>
          <a:prstGeom prst="rect">
            <a:avLst/>
          </a:prstGeom>
          <a:noFill/>
          <a:ln/>
        </p:spPr>
        <p:txBody>
          <a:bodyPr wrap="square" lIns="0" tIns="0" rIns="0" bIns="0" rtlCol="0" anchor="ctr"/>
          <a:lstStyle/>
          <a:p>
            <a:pPr marL="0" indent="0" algn="ctr">
              <a:buNone/>
            </a:pPr>
            <a:r>
              <a:rPr lang="en-US" sz="1150" dirty="0">
                <a:solidFill>
                  <a:srgbClr val="5B7180"/>
                </a:solidFill>
                <a:latin typeface="Calibri" pitchFamily="34" charset="0"/>
                <a:ea typeface="Calibri" pitchFamily="34" charset="-122"/>
                <a:cs typeface="Calibri" pitchFamily="34" charset="-120"/>
              </a:rPr>
              <a:t>mayor recaudo</a:t>
            </a:r>
            <a:endParaRPr lang="en-US" sz="1150" dirty="0"/>
          </a:p>
        </p:txBody>
      </p:sp>
      <p:sp>
        <p:nvSpPr>
          <p:cNvPr id="16" name="Shape 13"/>
          <p:cNvSpPr/>
          <p:nvPr/>
        </p:nvSpPr>
        <p:spPr>
          <a:xfrm>
            <a:off x="8110728" y="3063240"/>
            <a:ext cx="1691640" cy="1371600"/>
          </a:xfrm>
          <a:prstGeom prst="roundRect">
            <a:avLst>
              <a:gd name="adj" fmla="val 5333"/>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17" name="Text 14"/>
          <p:cNvSpPr/>
          <p:nvPr/>
        </p:nvSpPr>
        <p:spPr>
          <a:xfrm>
            <a:off x="8110728" y="3246120"/>
            <a:ext cx="1691640" cy="640080"/>
          </a:xfrm>
          <a:prstGeom prst="rect">
            <a:avLst/>
          </a:prstGeom>
          <a:noFill/>
          <a:ln/>
        </p:spPr>
        <p:txBody>
          <a:bodyPr wrap="square" lIns="0" tIns="0" rIns="0" bIns="0" rtlCol="0" anchor="ctr"/>
          <a:lstStyle/>
          <a:p>
            <a:pPr marL="0" indent="0" algn="ctr">
              <a:buNone/>
            </a:pPr>
            <a:r>
              <a:rPr lang="en-US" sz="3000" b="1" dirty="0">
                <a:solidFill>
                  <a:srgbClr val="16897E"/>
                </a:solidFill>
                <a:latin typeface="Cambria" pitchFamily="34" charset="0"/>
                <a:ea typeface="Cambria" pitchFamily="34" charset="-122"/>
                <a:cs typeface="Cambria" pitchFamily="34" charset="-120"/>
              </a:rPr>
              <a:t>2013</a:t>
            </a:r>
            <a:endParaRPr lang="en-US" sz="3000" dirty="0"/>
          </a:p>
        </p:txBody>
      </p:sp>
      <p:sp>
        <p:nvSpPr>
          <p:cNvPr id="18" name="Text 15"/>
          <p:cNvSpPr/>
          <p:nvPr/>
        </p:nvSpPr>
        <p:spPr>
          <a:xfrm>
            <a:off x="8110728" y="3886200"/>
            <a:ext cx="1691640" cy="365760"/>
          </a:xfrm>
          <a:prstGeom prst="rect">
            <a:avLst/>
          </a:prstGeom>
          <a:noFill/>
          <a:ln/>
        </p:spPr>
        <p:txBody>
          <a:bodyPr wrap="square" lIns="0" tIns="0" rIns="0" bIns="0" rtlCol="0" anchor="ctr"/>
          <a:lstStyle/>
          <a:p>
            <a:pPr marL="0" indent="0" algn="ctr">
              <a:buNone/>
            </a:pPr>
            <a:r>
              <a:rPr lang="en-US" sz="1150" dirty="0">
                <a:solidFill>
                  <a:srgbClr val="5B7180"/>
                </a:solidFill>
                <a:latin typeface="Calibri" pitchFamily="34" charset="0"/>
                <a:ea typeface="Calibri" pitchFamily="34" charset="-122"/>
                <a:cs typeface="Calibri" pitchFamily="34" charset="-120"/>
              </a:rPr>
              <a:t>2.º lugar</a:t>
            </a:r>
            <a:endParaRPr lang="en-US" sz="1150" dirty="0"/>
          </a:p>
        </p:txBody>
      </p:sp>
      <p:sp>
        <p:nvSpPr>
          <p:cNvPr id="19" name="Shape 16"/>
          <p:cNvSpPr/>
          <p:nvPr/>
        </p:nvSpPr>
        <p:spPr>
          <a:xfrm>
            <a:off x="9912096" y="3063240"/>
            <a:ext cx="1691640" cy="1371600"/>
          </a:xfrm>
          <a:prstGeom prst="roundRect">
            <a:avLst>
              <a:gd name="adj" fmla="val 5333"/>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20" name="Text 17"/>
          <p:cNvSpPr/>
          <p:nvPr/>
        </p:nvSpPr>
        <p:spPr>
          <a:xfrm>
            <a:off x="9912096" y="3246120"/>
            <a:ext cx="1691640" cy="640080"/>
          </a:xfrm>
          <a:prstGeom prst="rect">
            <a:avLst/>
          </a:prstGeom>
          <a:noFill/>
          <a:ln/>
        </p:spPr>
        <p:txBody>
          <a:bodyPr wrap="square" lIns="0" tIns="0" rIns="0" bIns="0" rtlCol="0" anchor="ctr"/>
          <a:lstStyle/>
          <a:p>
            <a:pPr marL="0" indent="0" algn="ctr">
              <a:buNone/>
            </a:pPr>
            <a:r>
              <a:rPr lang="en-US" sz="3000" b="1" dirty="0">
                <a:solidFill>
                  <a:srgbClr val="16897E"/>
                </a:solidFill>
                <a:latin typeface="Cambria" pitchFamily="34" charset="0"/>
                <a:ea typeface="Cambria" pitchFamily="34" charset="-122"/>
                <a:cs typeface="Cambria" pitchFamily="34" charset="-120"/>
              </a:rPr>
              <a:t>2018</a:t>
            </a:r>
            <a:endParaRPr lang="en-US" sz="3000" dirty="0"/>
          </a:p>
        </p:txBody>
      </p:sp>
      <p:sp>
        <p:nvSpPr>
          <p:cNvPr id="21" name="Text 18"/>
          <p:cNvSpPr/>
          <p:nvPr/>
        </p:nvSpPr>
        <p:spPr>
          <a:xfrm>
            <a:off x="9912096" y="3886200"/>
            <a:ext cx="1691640" cy="365760"/>
          </a:xfrm>
          <a:prstGeom prst="rect">
            <a:avLst/>
          </a:prstGeom>
          <a:noFill/>
          <a:ln/>
        </p:spPr>
        <p:txBody>
          <a:bodyPr wrap="square" lIns="0" tIns="0" rIns="0" bIns="0" rtlCol="0" anchor="ctr"/>
          <a:lstStyle/>
          <a:p>
            <a:pPr marL="0" indent="0" algn="ctr">
              <a:buNone/>
            </a:pPr>
            <a:r>
              <a:rPr lang="en-US" sz="1150" dirty="0">
                <a:solidFill>
                  <a:srgbClr val="5B7180"/>
                </a:solidFill>
                <a:latin typeface="Calibri" pitchFamily="34" charset="0"/>
                <a:ea typeface="Calibri" pitchFamily="34" charset="-122"/>
                <a:cs typeface="Calibri" pitchFamily="34" charset="-120"/>
              </a:rPr>
              <a:t>3.er lugar</a:t>
            </a:r>
            <a:endParaRPr lang="en-US" sz="1150" dirty="0"/>
          </a:p>
        </p:txBody>
      </p:sp>
      <p:sp>
        <p:nvSpPr>
          <p:cNvPr id="22" name="Shape 19"/>
          <p:cNvSpPr/>
          <p:nvPr/>
        </p:nvSpPr>
        <p:spPr>
          <a:xfrm>
            <a:off x="6309360" y="4617720"/>
            <a:ext cx="5303520" cy="1371600"/>
          </a:xfrm>
          <a:prstGeom prst="roundRect">
            <a:avLst>
              <a:gd name="adj" fmla="val 6667"/>
            </a:avLst>
          </a:prstGeom>
          <a:solidFill>
            <a:srgbClr val="0F2D43"/>
          </a:solidFill>
          <a:ln/>
          <a:effectLst>
            <a:outerShdw blurRad="88900" dist="38100" dir="5400000" algn="bl" rotWithShape="0">
              <a:srgbClr val="000000">
                <a:alpha val="13000"/>
              </a:srgbClr>
            </a:outerShdw>
          </a:effectLst>
        </p:spPr>
        <p:txBody>
          <a:bodyPr/>
          <a:lstStyle/>
          <a:p>
            <a:endParaRPr lang="es-CO"/>
          </a:p>
        </p:txBody>
      </p:sp>
      <p:sp>
        <p:nvSpPr>
          <p:cNvPr id="23" name="Text 20"/>
          <p:cNvSpPr/>
          <p:nvPr/>
        </p:nvSpPr>
        <p:spPr>
          <a:xfrm>
            <a:off x="6583680" y="4800600"/>
            <a:ext cx="4754880" cy="1005840"/>
          </a:xfrm>
          <a:prstGeom prst="rect">
            <a:avLst/>
          </a:prstGeom>
          <a:noFill/>
          <a:ln/>
        </p:spPr>
        <p:txBody>
          <a:bodyPr wrap="square" lIns="0" tIns="0" rIns="0" bIns="0" rtlCol="0" anchor="t"/>
          <a:lstStyle/>
          <a:p>
            <a:pPr marL="0" indent="0">
              <a:buNone/>
            </a:pPr>
            <a:r>
              <a:rPr lang="en-US" dirty="0">
                <a:solidFill>
                  <a:srgbClr val="FFFFFF"/>
                </a:solidFill>
                <a:latin typeface="Calibri" pitchFamily="34" charset="0"/>
                <a:ea typeface="Calibri" pitchFamily="34" charset="-122"/>
                <a:cs typeface="Calibri" pitchFamily="34" charset="-120"/>
              </a:rPr>
              <a:t>A menor IPC (inflación), mayor recaudo: con el mismo ingreso se cubren gastos menos vitales, como el predial.</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C7293"/>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Observaciones y posibles mejoras</a:t>
            </a:r>
            <a:endParaRPr lang="en-US" sz="3000" dirty="0"/>
          </a:p>
        </p:txBody>
      </p:sp>
      <p:sp>
        <p:nvSpPr>
          <p:cNvPr id="6" name="Text 3"/>
          <p:cNvSpPr/>
          <p:nvPr/>
        </p:nvSpPr>
        <p:spPr>
          <a:xfrm>
            <a:off x="9326880" y="530352"/>
            <a:ext cx="2286000" cy="420624"/>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ROCÍO</a:t>
            </a:r>
            <a:endParaRPr lang="en-US" sz="1250" dirty="0"/>
          </a:p>
        </p:txBody>
      </p:sp>
      <p:sp>
        <p:nvSpPr>
          <p:cNvPr id="7" name="Shape 4"/>
          <p:cNvSpPr/>
          <p:nvPr/>
        </p:nvSpPr>
        <p:spPr>
          <a:xfrm>
            <a:off x="548640" y="1691640"/>
            <a:ext cx="11064240" cy="1325880"/>
          </a:xfrm>
          <a:prstGeom prst="roundRect">
            <a:avLst>
              <a:gd name="adj" fmla="val 5517"/>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8" name="Shape 5"/>
          <p:cNvSpPr/>
          <p:nvPr/>
        </p:nvSpPr>
        <p:spPr>
          <a:xfrm>
            <a:off x="777240" y="2075688"/>
            <a:ext cx="548640" cy="548640"/>
          </a:xfrm>
          <a:prstGeom prst="ellipse">
            <a:avLst/>
          </a:prstGeom>
          <a:solidFill>
            <a:srgbClr val="1C7293"/>
          </a:solidFill>
          <a:ln/>
        </p:spPr>
        <p:txBody>
          <a:bodyPr/>
          <a:lstStyle/>
          <a:p>
            <a:endParaRPr lang="es-CO"/>
          </a:p>
        </p:txBody>
      </p:sp>
      <p:sp>
        <p:nvSpPr>
          <p:cNvPr id="9" name="Text 6"/>
          <p:cNvSpPr/>
          <p:nvPr/>
        </p:nvSpPr>
        <p:spPr>
          <a:xfrm>
            <a:off x="777240" y="207568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7"/>
          <p:cNvSpPr/>
          <p:nvPr/>
        </p:nvSpPr>
        <p:spPr>
          <a:xfrm>
            <a:off x="1554480" y="1856232"/>
            <a:ext cx="9784080" cy="365760"/>
          </a:xfrm>
          <a:prstGeom prst="rect">
            <a:avLst/>
          </a:prstGeom>
          <a:noFill/>
          <a:ln/>
        </p:spPr>
        <p:txBody>
          <a:bodyPr wrap="square" lIns="0" tIns="0" rIns="0" bIns="0" rtlCol="0" anchor="ctr"/>
          <a:lstStyle/>
          <a:p>
            <a:pPr marL="0" indent="0">
              <a:buNone/>
            </a:pPr>
            <a:r>
              <a:rPr lang="en-US" sz="1600" b="1" dirty="0">
                <a:solidFill>
                  <a:srgbClr val="1E293B"/>
                </a:solidFill>
                <a:latin typeface="Cambria" pitchFamily="34" charset="0"/>
                <a:ea typeface="Cambria" pitchFamily="34" charset="-122"/>
                <a:cs typeface="Cambria" pitchFamily="34" charset="-120"/>
              </a:rPr>
              <a:t>Imputación</a:t>
            </a:r>
            <a:endParaRPr lang="en-US" sz="1600" dirty="0"/>
          </a:p>
        </p:txBody>
      </p:sp>
      <p:sp>
        <p:nvSpPr>
          <p:cNvPr id="11" name="Text 8"/>
          <p:cNvSpPr/>
          <p:nvPr/>
        </p:nvSpPr>
        <p:spPr>
          <a:xfrm>
            <a:off x="1554480" y="2221992"/>
            <a:ext cx="9784080" cy="73152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13.731 registros (8,2%) llegaron sin TOTAL_PAGADO y se imputaron con la media; en ellos, MEDIA_POR_PREDIO y RENTABILIDAD derivan de un valor imputado, no observado.</a:t>
            </a:r>
            <a:endParaRPr lang="en-US" sz="1600" dirty="0"/>
          </a:p>
        </p:txBody>
      </p:sp>
      <p:sp>
        <p:nvSpPr>
          <p:cNvPr id="12" name="Shape 9"/>
          <p:cNvSpPr/>
          <p:nvPr/>
        </p:nvSpPr>
        <p:spPr>
          <a:xfrm>
            <a:off x="548640" y="3154680"/>
            <a:ext cx="11064240" cy="1325880"/>
          </a:xfrm>
          <a:prstGeom prst="roundRect">
            <a:avLst>
              <a:gd name="adj" fmla="val 5517"/>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13" name="Shape 10"/>
          <p:cNvSpPr/>
          <p:nvPr/>
        </p:nvSpPr>
        <p:spPr>
          <a:xfrm>
            <a:off x="777240" y="3538728"/>
            <a:ext cx="548640" cy="548640"/>
          </a:xfrm>
          <a:prstGeom prst="ellipse">
            <a:avLst/>
          </a:prstGeom>
          <a:solidFill>
            <a:srgbClr val="1C7293"/>
          </a:solidFill>
          <a:ln/>
        </p:spPr>
        <p:txBody>
          <a:bodyPr/>
          <a:lstStyle/>
          <a:p>
            <a:endParaRPr lang="es-CO"/>
          </a:p>
        </p:txBody>
      </p:sp>
      <p:sp>
        <p:nvSpPr>
          <p:cNvPr id="14" name="Text 11"/>
          <p:cNvSpPr/>
          <p:nvPr/>
        </p:nvSpPr>
        <p:spPr>
          <a:xfrm>
            <a:off x="777240" y="353872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2"/>
          <p:cNvSpPr/>
          <p:nvPr/>
        </p:nvSpPr>
        <p:spPr>
          <a:xfrm>
            <a:off x="1554480" y="3319272"/>
            <a:ext cx="9784080" cy="365760"/>
          </a:xfrm>
          <a:prstGeom prst="rect">
            <a:avLst/>
          </a:prstGeom>
          <a:noFill/>
          <a:ln/>
        </p:spPr>
        <p:txBody>
          <a:bodyPr wrap="square" lIns="0" tIns="0" rIns="0" bIns="0" rtlCol="0" anchor="ctr"/>
          <a:lstStyle/>
          <a:p>
            <a:pPr marL="0" indent="0">
              <a:buNone/>
            </a:pPr>
            <a:r>
              <a:rPr lang="en-US" sz="1600" b="1" dirty="0">
                <a:solidFill>
                  <a:srgbClr val="1E293B"/>
                </a:solidFill>
                <a:latin typeface="Cambria" pitchFamily="34" charset="0"/>
                <a:ea typeface="Cambria" pitchFamily="34" charset="-122"/>
                <a:cs typeface="Cambria" pitchFamily="34" charset="-120"/>
              </a:rPr>
              <a:t>Diccionario</a:t>
            </a:r>
            <a:endParaRPr lang="en-US" sz="1600" dirty="0"/>
          </a:p>
        </p:txBody>
      </p:sp>
      <p:sp>
        <p:nvSpPr>
          <p:cNvPr id="16" name="Text 13"/>
          <p:cNvSpPr/>
          <p:nvPr/>
        </p:nvSpPr>
        <p:spPr>
          <a:xfrm>
            <a:off x="1554480" y="3685032"/>
            <a:ext cx="9784080" cy="73152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Si en el futuro aparecen nuevos códigos de destino, deben agregarse al diccionario CODIGO_SHD.</a:t>
            </a:r>
            <a:endParaRPr lang="en-US" sz="1600" dirty="0"/>
          </a:p>
        </p:txBody>
      </p:sp>
      <p:sp>
        <p:nvSpPr>
          <p:cNvPr id="17" name="Shape 14"/>
          <p:cNvSpPr/>
          <p:nvPr/>
        </p:nvSpPr>
        <p:spPr>
          <a:xfrm>
            <a:off x="548640" y="4617720"/>
            <a:ext cx="11064240" cy="1325880"/>
          </a:xfrm>
          <a:prstGeom prst="roundRect">
            <a:avLst>
              <a:gd name="adj" fmla="val 5517"/>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18" name="Shape 15"/>
          <p:cNvSpPr/>
          <p:nvPr/>
        </p:nvSpPr>
        <p:spPr>
          <a:xfrm>
            <a:off x="777240" y="5001768"/>
            <a:ext cx="548640" cy="548640"/>
          </a:xfrm>
          <a:prstGeom prst="ellipse">
            <a:avLst/>
          </a:prstGeom>
          <a:solidFill>
            <a:srgbClr val="1C7293"/>
          </a:solidFill>
          <a:ln/>
        </p:spPr>
        <p:txBody>
          <a:bodyPr/>
          <a:lstStyle/>
          <a:p>
            <a:endParaRPr lang="es-CO"/>
          </a:p>
        </p:txBody>
      </p:sp>
      <p:sp>
        <p:nvSpPr>
          <p:cNvPr id="19" name="Text 16"/>
          <p:cNvSpPr/>
          <p:nvPr/>
        </p:nvSpPr>
        <p:spPr>
          <a:xfrm>
            <a:off x="777240" y="500176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7"/>
          <p:cNvSpPr/>
          <p:nvPr/>
        </p:nvSpPr>
        <p:spPr>
          <a:xfrm>
            <a:off x="1554480" y="4782312"/>
            <a:ext cx="9784080" cy="365760"/>
          </a:xfrm>
          <a:prstGeom prst="rect">
            <a:avLst/>
          </a:prstGeom>
          <a:noFill/>
          <a:ln/>
        </p:spPr>
        <p:txBody>
          <a:bodyPr wrap="square" lIns="0" tIns="0" rIns="0" bIns="0" rtlCol="0" anchor="ctr"/>
          <a:lstStyle/>
          <a:p>
            <a:pPr marL="0" indent="0">
              <a:buNone/>
            </a:pPr>
            <a:r>
              <a:rPr lang="en-US" sz="1600" b="1" dirty="0">
                <a:solidFill>
                  <a:srgbClr val="1E293B"/>
                </a:solidFill>
                <a:latin typeface="Cambria" pitchFamily="34" charset="0"/>
                <a:ea typeface="Cambria" pitchFamily="34" charset="-122"/>
                <a:cs typeface="Cambria" pitchFamily="34" charset="-120"/>
              </a:rPr>
              <a:t>Umbrales</a:t>
            </a:r>
            <a:endParaRPr lang="en-US" sz="1600" dirty="0"/>
          </a:p>
        </p:txBody>
      </p:sp>
      <p:sp>
        <p:nvSpPr>
          <p:cNvPr id="21" name="Text 18"/>
          <p:cNvSpPr/>
          <p:nvPr/>
        </p:nvSpPr>
        <p:spPr>
          <a:xfrm>
            <a:off x="1554480" y="5148072"/>
            <a:ext cx="9784080" cy="73152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Los umbrales de RENTABILIDAD se basan en la media; también podrían usarse cuartiles o terciles.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C7293"/>
          </a:solidFill>
          <a:ln/>
          <a:effectLst>
            <a:outerShdw blurRad="88900" dist="38100" dir="5400000" algn="bl" rotWithShape="0">
              <a:srgbClr val="000000">
                <a:alpha val="13000"/>
              </a:srgbClr>
            </a:outerShdw>
          </a:effectLst>
        </p:spPr>
        <p:txBody>
          <a:bodyPr/>
          <a:lstStyle/>
          <a:p>
            <a:endParaRPr lang="es-CO"/>
          </a:p>
        </p:txBody>
      </p:sp>
      <p:pic>
        <p:nvPicPr>
          <p:cNvPr id="3" name="Image 0" descr="preencoded.png"/>
          <p:cNvPicPr>
            <a:picLocks noChangeAspect="1"/>
          </p:cNvPicPr>
          <p:nvPr/>
        </p:nvPicPr>
        <p:blipFill>
          <a:blip r:embed="rId3"/>
          <a:stretch>
            <a:fillRect/>
          </a:stretch>
        </p:blipFill>
        <p:spPr>
          <a:xfrm>
            <a:off x="704088" y="612648"/>
            <a:ext cx="329184" cy="329184"/>
          </a:xfrm>
          <a:prstGeom prst="rect">
            <a:avLst/>
          </a:prstGeom>
        </p:spPr>
      </p:pic>
      <p:sp>
        <p:nvSpPr>
          <p:cNvPr id="4" name="Text 1"/>
          <p:cNvSpPr/>
          <p:nvPr/>
        </p:nvSpPr>
        <p:spPr>
          <a:xfrm>
            <a:off x="1417320" y="411480"/>
            <a:ext cx="7863840" cy="73152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Conclusiones</a:t>
            </a:r>
            <a:endParaRPr lang="en-US" sz="3000" dirty="0"/>
          </a:p>
        </p:txBody>
      </p:sp>
      <p:sp>
        <p:nvSpPr>
          <p:cNvPr id="6" name="Text 3"/>
          <p:cNvSpPr/>
          <p:nvPr/>
        </p:nvSpPr>
        <p:spPr>
          <a:xfrm>
            <a:off x="9326880" y="530352"/>
            <a:ext cx="2286000" cy="420624"/>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ROCÍO</a:t>
            </a:r>
            <a:endParaRPr lang="en-US" sz="1250" dirty="0"/>
          </a:p>
        </p:txBody>
      </p:sp>
      <p:sp>
        <p:nvSpPr>
          <p:cNvPr id="7" name="Shape 4"/>
          <p:cNvSpPr/>
          <p:nvPr/>
        </p:nvSpPr>
        <p:spPr>
          <a:xfrm>
            <a:off x="320040" y="1104720"/>
            <a:ext cx="3520440" cy="4114800"/>
          </a:xfrm>
          <a:prstGeom prst="roundRect">
            <a:avLst>
              <a:gd name="adj" fmla="val 2597"/>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8" name="Shape 5"/>
          <p:cNvSpPr/>
          <p:nvPr/>
        </p:nvSpPr>
        <p:spPr>
          <a:xfrm>
            <a:off x="548640" y="1333320"/>
            <a:ext cx="3520440" cy="777240"/>
          </a:xfrm>
          <a:prstGeom prst="roundRect">
            <a:avLst>
              <a:gd name="adj" fmla="val 11765"/>
            </a:avLst>
          </a:prstGeom>
          <a:solidFill>
            <a:srgbClr val="1C7293"/>
          </a:solidFill>
          <a:ln/>
        </p:spPr>
        <p:txBody>
          <a:bodyPr/>
          <a:lstStyle/>
          <a:p>
            <a:endParaRPr lang="es-CO"/>
          </a:p>
        </p:txBody>
      </p:sp>
      <p:sp>
        <p:nvSpPr>
          <p:cNvPr id="9" name="Text 6"/>
          <p:cNvSpPr/>
          <p:nvPr/>
        </p:nvSpPr>
        <p:spPr>
          <a:xfrm>
            <a:off x="731520" y="1333320"/>
            <a:ext cx="3154680" cy="7772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P1 · Morosos</a:t>
            </a:r>
            <a:endParaRPr lang="en-US" sz="1700" dirty="0"/>
          </a:p>
        </p:txBody>
      </p:sp>
      <p:sp>
        <p:nvSpPr>
          <p:cNvPr id="10" name="Text 7"/>
          <p:cNvSpPr/>
          <p:nvPr/>
        </p:nvSpPr>
        <p:spPr>
          <a:xfrm>
            <a:off x="777240" y="2293440"/>
            <a:ext cx="3063240" cy="2926080"/>
          </a:xfrm>
          <a:prstGeom prst="rect">
            <a:avLst/>
          </a:prstGeom>
          <a:noFill/>
          <a:ln/>
        </p:spPr>
        <p:txBody>
          <a:bodyPr wrap="square" lIns="0" tIns="0" rIns="0" bIns="0" rtlCol="0" anchor="t"/>
          <a:lstStyle/>
          <a:p>
            <a:pPr marL="0" indent="0">
              <a:lnSpc>
                <a:spcPct val="110000"/>
              </a:lnSpc>
              <a:buNone/>
            </a:pPr>
            <a:r>
              <a:rPr lang="en-US" dirty="0">
                <a:solidFill>
                  <a:srgbClr val="1E293B"/>
                </a:solidFill>
                <a:latin typeface="Calibri" pitchFamily="34" charset="0"/>
                <a:ea typeface="Calibri" pitchFamily="34" charset="-122"/>
                <a:cs typeface="Calibri" pitchFamily="34" charset="-120"/>
              </a:rPr>
              <a:t>No hay evidencia estadística suficiente para afirmar una relación clara entre estrato y cumplimiento, sobre todo por la anomalía del estrato 1.</a:t>
            </a:r>
            <a:endParaRPr lang="en-US" dirty="0"/>
          </a:p>
        </p:txBody>
      </p:sp>
      <p:sp>
        <p:nvSpPr>
          <p:cNvPr id="11" name="Shape 8"/>
          <p:cNvSpPr/>
          <p:nvPr/>
        </p:nvSpPr>
        <p:spPr>
          <a:xfrm>
            <a:off x="4297680" y="1333320"/>
            <a:ext cx="3520440" cy="4114800"/>
          </a:xfrm>
          <a:prstGeom prst="roundRect">
            <a:avLst>
              <a:gd name="adj" fmla="val 2597"/>
            </a:avLst>
          </a:prstGeom>
          <a:solidFill>
            <a:srgbClr val="F2F6F8"/>
          </a:solidFill>
          <a:ln/>
          <a:effectLst>
            <a:outerShdw blurRad="88900" dist="38100" dir="5400000" algn="bl" rotWithShape="0">
              <a:srgbClr val="000000">
                <a:alpha val="13000"/>
              </a:srgbClr>
            </a:outerShdw>
          </a:effectLst>
        </p:spPr>
        <p:txBody>
          <a:bodyPr/>
          <a:lstStyle/>
          <a:p>
            <a:endParaRPr lang="es-CO" dirty="0"/>
          </a:p>
        </p:txBody>
      </p:sp>
      <p:sp>
        <p:nvSpPr>
          <p:cNvPr id="12" name="Shape 9"/>
          <p:cNvSpPr/>
          <p:nvPr/>
        </p:nvSpPr>
        <p:spPr>
          <a:xfrm>
            <a:off x="4297680" y="1333320"/>
            <a:ext cx="3520440" cy="777240"/>
          </a:xfrm>
          <a:prstGeom prst="roundRect">
            <a:avLst>
              <a:gd name="adj" fmla="val 11765"/>
            </a:avLst>
          </a:prstGeom>
          <a:solidFill>
            <a:srgbClr val="1C7293"/>
          </a:solidFill>
          <a:ln/>
        </p:spPr>
        <p:txBody>
          <a:bodyPr/>
          <a:lstStyle/>
          <a:p>
            <a:endParaRPr lang="es-CO" dirty="0"/>
          </a:p>
        </p:txBody>
      </p:sp>
      <p:sp>
        <p:nvSpPr>
          <p:cNvPr id="13" name="Text 10"/>
          <p:cNvSpPr/>
          <p:nvPr/>
        </p:nvSpPr>
        <p:spPr>
          <a:xfrm>
            <a:off x="4480560" y="1333320"/>
            <a:ext cx="3154680" cy="7772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P2 · Barrios</a:t>
            </a:r>
            <a:endParaRPr lang="en-US" sz="1700" dirty="0"/>
          </a:p>
        </p:txBody>
      </p:sp>
      <p:sp>
        <p:nvSpPr>
          <p:cNvPr id="14" name="Text 11"/>
          <p:cNvSpPr/>
          <p:nvPr/>
        </p:nvSpPr>
        <p:spPr>
          <a:xfrm>
            <a:off x="4526280" y="2293440"/>
            <a:ext cx="3063240" cy="2926080"/>
          </a:xfrm>
          <a:prstGeom prst="rect">
            <a:avLst/>
          </a:prstGeom>
          <a:noFill/>
          <a:ln/>
        </p:spPr>
        <p:txBody>
          <a:bodyPr wrap="square" lIns="0" tIns="0" rIns="0" bIns="0" rtlCol="0" anchor="t"/>
          <a:lstStyle/>
          <a:p>
            <a:pPr marL="0" indent="0">
              <a:lnSpc>
                <a:spcPct val="110000"/>
              </a:lnSpc>
              <a:buNone/>
            </a:pPr>
            <a:r>
              <a:rPr lang="en-US" dirty="0">
                <a:solidFill>
                  <a:srgbClr val="1E293B"/>
                </a:solidFill>
                <a:latin typeface="Calibri" pitchFamily="34" charset="0"/>
                <a:ea typeface="Calibri" pitchFamily="34" charset="-122"/>
                <a:cs typeface="Calibri" pitchFamily="34" charset="-120"/>
              </a:rPr>
              <a:t>Las Margaritas recauda por volumen; el eje Chicó–Santa Bárbara, por valor por predio. Conviene mantener/mejorar avalúos e infraestructura.</a:t>
            </a:r>
            <a:endParaRPr lang="en-US" dirty="0"/>
          </a:p>
        </p:txBody>
      </p:sp>
      <p:sp>
        <p:nvSpPr>
          <p:cNvPr id="15" name="Shape 12"/>
          <p:cNvSpPr/>
          <p:nvPr/>
        </p:nvSpPr>
        <p:spPr>
          <a:xfrm>
            <a:off x="8046720" y="1333320"/>
            <a:ext cx="3520440" cy="4114800"/>
          </a:xfrm>
          <a:prstGeom prst="roundRect">
            <a:avLst>
              <a:gd name="adj" fmla="val 2597"/>
            </a:avLst>
          </a:prstGeom>
          <a:solidFill>
            <a:srgbClr val="F2F6F8"/>
          </a:solidFill>
          <a:ln/>
          <a:effectLst>
            <a:outerShdw blurRad="88900" dist="38100" dir="5400000" algn="bl" rotWithShape="0">
              <a:srgbClr val="000000">
                <a:alpha val="13000"/>
              </a:srgbClr>
            </a:outerShdw>
          </a:effectLst>
        </p:spPr>
        <p:txBody>
          <a:bodyPr/>
          <a:lstStyle/>
          <a:p>
            <a:endParaRPr lang="es-CO"/>
          </a:p>
        </p:txBody>
      </p:sp>
      <p:sp>
        <p:nvSpPr>
          <p:cNvPr id="16" name="Shape 13"/>
          <p:cNvSpPr/>
          <p:nvPr/>
        </p:nvSpPr>
        <p:spPr>
          <a:xfrm>
            <a:off x="8046720" y="1333320"/>
            <a:ext cx="3520440" cy="777240"/>
          </a:xfrm>
          <a:prstGeom prst="roundRect">
            <a:avLst>
              <a:gd name="adj" fmla="val 11765"/>
            </a:avLst>
          </a:prstGeom>
          <a:solidFill>
            <a:srgbClr val="1C7293"/>
          </a:solidFill>
          <a:ln/>
        </p:spPr>
        <p:txBody>
          <a:bodyPr/>
          <a:lstStyle/>
          <a:p>
            <a:endParaRPr lang="es-CO"/>
          </a:p>
        </p:txBody>
      </p:sp>
      <p:sp>
        <p:nvSpPr>
          <p:cNvPr id="17" name="Text 14"/>
          <p:cNvSpPr/>
          <p:nvPr/>
        </p:nvSpPr>
        <p:spPr>
          <a:xfrm>
            <a:off x="8229600" y="1333320"/>
            <a:ext cx="3154680" cy="7772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P3 · Por año</a:t>
            </a:r>
            <a:endParaRPr lang="en-US" sz="1700" dirty="0"/>
          </a:p>
        </p:txBody>
      </p:sp>
      <p:sp>
        <p:nvSpPr>
          <p:cNvPr id="18" name="Text 15"/>
          <p:cNvSpPr/>
          <p:nvPr/>
        </p:nvSpPr>
        <p:spPr>
          <a:xfrm>
            <a:off x="8275320" y="2293440"/>
            <a:ext cx="3063240" cy="2926080"/>
          </a:xfrm>
          <a:prstGeom prst="rect">
            <a:avLst/>
          </a:prstGeom>
          <a:noFill/>
          <a:ln/>
        </p:spPr>
        <p:txBody>
          <a:bodyPr wrap="square" lIns="0" tIns="0" rIns="0" bIns="0" rtlCol="0" anchor="t"/>
          <a:lstStyle/>
          <a:p>
            <a:pPr marL="0" indent="0">
              <a:lnSpc>
                <a:spcPct val="110000"/>
              </a:lnSpc>
              <a:buNone/>
            </a:pPr>
            <a:r>
              <a:rPr lang="en-US" dirty="0">
                <a:solidFill>
                  <a:srgbClr val="1E293B"/>
                </a:solidFill>
                <a:latin typeface="Calibri" pitchFamily="34" charset="0"/>
                <a:ea typeface="Calibri" pitchFamily="34" charset="-122"/>
                <a:cs typeface="Calibri" pitchFamily="34" charset="-120"/>
              </a:rPr>
              <a:t>Picos en 2020, 2013 y 2018; relación inversa con el IPC. 2020 se explica además por incentivos de pago en pandemia (menos interés de mora).</a:t>
            </a:r>
            <a:endParaRPr lang="en-US" dirty="0"/>
          </a:p>
        </p:txBody>
      </p:sp>
      <p:pic>
        <p:nvPicPr>
          <p:cNvPr id="5" name="Imagen 4">
            <a:extLst>
              <a:ext uri="{FF2B5EF4-FFF2-40B4-BE49-F238E27FC236}">
                <a16:creationId xmlns:a16="http://schemas.microsoft.com/office/drawing/2014/main" id="{64CDA6BD-D944-463E-746A-E7A466E17AD4}"/>
              </a:ext>
            </a:extLst>
          </p:cNvPr>
          <p:cNvPicPr>
            <a:picLocks noChangeAspect="1"/>
          </p:cNvPicPr>
          <p:nvPr/>
        </p:nvPicPr>
        <p:blipFill>
          <a:blip r:embed="rId4">
            <a:extLst>
              <a:ext uri="{28A0092B-C50C-407E-A947-70E740481C1C}">
                <a14:useLocalDpi xmlns:a14="http://schemas.microsoft.com/office/drawing/2010/main" val="0"/>
              </a:ext>
            </a:extLst>
          </a:blip>
          <a:srcRect l="6210"/>
          <a:stretch>
            <a:fillRect/>
          </a:stretch>
        </p:blipFill>
        <p:spPr bwMode="auto">
          <a:xfrm>
            <a:off x="8066037" y="4133282"/>
            <a:ext cx="3520440" cy="2538235"/>
          </a:xfrm>
          <a:prstGeom prst="rect">
            <a:avLst/>
          </a:prstGeom>
          <a:noFill/>
        </p:spPr>
      </p:pic>
      <p:pic>
        <p:nvPicPr>
          <p:cNvPr id="19" name="Imagen 18">
            <a:extLst>
              <a:ext uri="{FF2B5EF4-FFF2-40B4-BE49-F238E27FC236}">
                <a16:creationId xmlns:a16="http://schemas.microsoft.com/office/drawing/2014/main" id="{2EB989DD-1357-8F3A-38B2-6AA2C5810BE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30344" y="4067024"/>
            <a:ext cx="3407093" cy="2535914"/>
          </a:xfrm>
          <a:prstGeom prst="rect">
            <a:avLst/>
          </a:prstGeom>
          <a:noFill/>
          <a:ln>
            <a:noFill/>
          </a:ln>
        </p:spPr>
      </p:pic>
      <p:pic>
        <p:nvPicPr>
          <p:cNvPr id="20" name="Imagen 19">
            <a:extLst>
              <a:ext uri="{FF2B5EF4-FFF2-40B4-BE49-F238E27FC236}">
                <a16:creationId xmlns:a16="http://schemas.microsoft.com/office/drawing/2014/main" id="{003C1D85-338F-AEAE-07B5-28C782AF764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1633" y="4080116"/>
            <a:ext cx="3407092" cy="254552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F2D43"/>
        </a:solidFill>
        <a:effectLst/>
      </p:bgPr>
    </p:bg>
    <p:spTree>
      <p:nvGrpSpPr>
        <p:cNvPr id="1" name=""/>
        <p:cNvGrpSpPr/>
        <p:nvPr/>
      </p:nvGrpSpPr>
      <p:grpSpPr>
        <a:xfrm>
          <a:off x="0" y="0"/>
          <a:ext cx="0" cy="0"/>
          <a:chOff x="0" y="0"/>
          <a:chExt cx="0" cy="0"/>
        </a:xfrm>
      </p:grpSpPr>
      <p:sp>
        <p:nvSpPr>
          <p:cNvPr id="2" name="Shape 0"/>
          <p:cNvSpPr/>
          <p:nvPr/>
        </p:nvSpPr>
        <p:spPr>
          <a:xfrm>
            <a:off x="9144000" y="4023360"/>
            <a:ext cx="4754880" cy="4754880"/>
          </a:xfrm>
          <a:prstGeom prst="ellipse">
            <a:avLst/>
          </a:prstGeom>
          <a:solidFill>
            <a:srgbClr val="163A52"/>
          </a:solidFill>
          <a:ln/>
        </p:spPr>
        <p:txBody>
          <a:bodyPr/>
          <a:lstStyle/>
          <a:p>
            <a:endParaRPr lang="es-CO"/>
          </a:p>
        </p:txBody>
      </p:sp>
      <p:sp>
        <p:nvSpPr>
          <p:cNvPr id="3" name="Shape 1"/>
          <p:cNvSpPr/>
          <p:nvPr/>
        </p:nvSpPr>
        <p:spPr>
          <a:xfrm>
            <a:off x="-1463040" y="-1645920"/>
            <a:ext cx="3840480" cy="3840480"/>
          </a:xfrm>
          <a:prstGeom prst="ellipse">
            <a:avLst/>
          </a:prstGeom>
          <a:solidFill>
            <a:srgbClr val="163A52"/>
          </a:solidFill>
          <a:ln/>
        </p:spPr>
        <p:txBody>
          <a:bodyPr/>
          <a:lstStyle/>
          <a:p>
            <a:endParaRPr lang="es-CO"/>
          </a:p>
        </p:txBody>
      </p:sp>
      <p:sp>
        <p:nvSpPr>
          <p:cNvPr id="4" name="Text 2"/>
          <p:cNvSpPr/>
          <p:nvPr/>
        </p:nvSpPr>
        <p:spPr>
          <a:xfrm>
            <a:off x="548640" y="2194560"/>
            <a:ext cx="10058400" cy="128016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Gracias</a:t>
            </a:r>
            <a:endParaRPr lang="en-US" sz="6400" dirty="0"/>
          </a:p>
        </p:txBody>
      </p:sp>
      <p:sp>
        <p:nvSpPr>
          <p:cNvPr id="5" name="Text 3"/>
          <p:cNvSpPr/>
          <p:nvPr/>
        </p:nvSpPr>
        <p:spPr>
          <a:xfrm>
            <a:off x="548640" y="3566160"/>
            <a:ext cx="8686800" cy="822960"/>
          </a:xfrm>
          <a:prstGeom prst="rect">
            <a:avLst/>
          </a:prstGeom>
          <a:noFill/>
          <a:ln/>
        </p:spPr>
        <p:txBody>
          <a:bodyPr wrap="square" lIns="0" tIns="0" rIns="0" bIns="0" rtlCol="0" anchor="t"/>
          <a:lstStyle/>
          <a:p>
            <a:pPr marL="0" indent="0">
              <a:buNone/>
            </a:pPr>
            <a:r>
              <a:rPr lang="en-US" sz="2000" dirty="0">
                <a:solidFill>
                  <a:srgbClr val="9FC2D1"/>
                </a:solidFill>
                <a:latin typeface="Calibri" pitchFamily="34" charset="0"/>
                <a:ea typeface="Calibri" pitchFamily="34" charset="-122"/>
                <a:cs typeface="Calibri" pitchFamily="34" charset="-120"/>
              </a:rPr>
              <a:t>Resultados reproducibles a partir del código fuente y de una ejecución completa del pipeline sobre el dataset.</a:t>
            </a:r>
            <a:endParaRPr lang="en-US" sz="2000" dirty="0"/>
          </a:p>
        </p:txBody>
      </p:sp>
      <p:sp>
        <p:nvSpPr>
          <p:cNvPr id="6" name="Text 4"/>
          <p:cNvSpPr/>
          <p:nvPr/>
        </p:nvSpPr>
        <p:spPr>
          <a:xfrm>
            <a:off x="548640" y="5120640"/>
            <a:ext cx="10058400" cy="365760"/>
          </a:xfrm>
          <a:prstGeom prst="rect">
            <a:avLst/>
          </a:prstGeom>
          <a:noFill/>
          <a:ln/>
        </p:spPr>
        <p:txBody>
          <a:bodyPr wrap="square" lIns="0" tIns="0" rIns="0" bIns="0" rtlCol="0" anchor="ctr"/>
          <a:lstStyle/>
          <a:p>
            <a:pPr marL="0" indent="0">
              <a:buNone/>
            </a:pPr>
            <a:r>
              <a:rPr lang="en-US" b="1" dirty="0">
                <a:solidFill>
                  <a:srgbClr val="7FB3C7"/>
                </a:solidFill>
                <a:latin typeface="Calibri" pitchFamily="34" charset="0"/>
                <a:ea typeface="Calibri" pitchFamily="34" charset="-122"/>
                <a:cs typeface="Calibri" pitchFamily="34" charset="-120"/>
              </a:rPr>
              <a:t>Quintero · Orduz · Tíjaro   —   Universidad del Magdalena</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2415</Words>
  <Application>Microsoft Office PowerPoint</Application>
  <PresentationFormat>Panorámica</PresentationFormat>
  <Paragraphs>186</Paragraphs>
  <Slides>13</Slides>
  <Notes>13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Impuesto Predial Bogotá 2007–2023 — Codificación en Python</dc:title>
  <dc:subject>PptxGenJS Presentation</dc:subject>
  <dc:creator>Quintero · Orduz · Tíjaro</dc:creator>
  <cp:lastModifiedBy>Rocío del Pilar Tijaro Rojas</cp:lastModifiedBy>
  <cp:revision>4</cp:revision>
  <dcterms:created xsi:type="dcterms:W3CDTF">2026-06-14T18:37:41Z</dcterms:created>
  <dcterms:modified xsi:type="dcterms:W3CDTF">2026-06-14T20:25:56Z</dcterms:modified>
</cp:coreProperties>
</file>